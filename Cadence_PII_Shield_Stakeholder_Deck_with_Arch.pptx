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 id="266" r:id="rId17"/>
    <p:sldId id="267" r:id="rId18"/>
    <p:sldId id="268" r:id="rId19"/>
    <p:sldId id="269" r:id="rId20"/>
  </p:sldIdLst>
  <p:sldSz cx="12188952"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6" d="100"/>
          <a:sy n="76" d="100"/>
        </p:scale>
        <p:origin x="27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412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 are presenting the Optiv PII Shield developed for Cadence. As employees leverage document analysis agents to review control evidence, Cadence's new organizational policy strictly forbids PII from reaching AI models. Today we will walk through the solution blueprint, technical architecture, multi-format extraction logic, reliability metrics, and live workable demonstration in 10 to 15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slide we anchor the business driver: Cadence's policy mandates zero PII in AI models. However, stripping PII naively destroys document structure, making it impossible for the LLM to understand tables or policies. Optiv designed a solution that solves both: near 100% recall with zero leakage, while preserving over 80% structural fidelity.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Solution Blueprint. The data flows sequentially from ingestion through extraction, multi-tier detection, transparent tagging, and finally to the audit ledger and LLM gateway. Each stage has a defined responsibility and produces cryptographically signed artifacts ensuring total explainability.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covers the technical components and security perimeter. Notice the air-gapped security boundary on the right. In accordance with Cadence security requirements, the entire engine runs locally without transmitting any data over the public internet. The cryptographic vault enforces role-based access: LLMs get sanitized text only; auditors hold the decryption key.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break down the extraction logic across all artifact formats Cadence submits. A critical feature is our handling of PowerPoint speaker notes—auditors frequently hide notes in slides that traditional extractors miss. For Excel and Word, we convert all tabular data into clean Markdown tables, ensuring structure scores exceed 98%.</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presents our 4-tier detection architecture. Notice that we do not rely purely on regex or purely on AI models. We combine deterministic mathematical checksums (Luhn, ABA Fedwire) with Presidio NLP, contextual proximity boosting, and a secondary residual guardrail. This tiered defense achieves our goal: approaching 100% recall with negligible false positives.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showcases our empirical benchmark results across all 5 Cadence test artifacts. As you can see, every single artifact achieves between 98.7% and 99.5% structure preservation—far exceeding the 80% requirement. Simultaneously, residual leakage risk is verified at exactly 0.00% across all 100 detected entities.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is central to Optiv's philosophy. Slide 8 explains how our dual-mode architecture satisfies both the strict zero-PII policy for AI models and the explainability requirements of internal audit. The cryptographic provenance hashes ensure non-repudiation and regulatory compliance.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Slide 9, we outline the exact operational playbook we will now walk through live on the demonstration tool. The interface allows Cadence auditors to ingest evidence, view real-time side-by-side diffs, inspect the exposure matrix, and export certified clean files for downstream LLM processing.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Optiv has delivered a scalable, mathematically rigorous, and secure PII Shield for Cadence. It protects against privacy violations while empowering employees to continue utilizing AI agents. Thank you, and we welcome any questions from the team.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Rectangle 1"/>
          <p:cNvSpPr/>
          <p:nvPr/>
        </p:nvSpPr>
        <p:spPr>
          <a:xfrm>
            <a:off x="731520" y="1645920"/>
            <a:ext cx="137160" cy="292608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645920"/>
            <a:ext cx="10058400" cy="1569660"/>
          </a:xfrm>
          <a:prstGeom prst="rect">
            <a:avLst/>
          </a:prstGeom>
          <a:noFill/>
        </p:spPr>
        <p:txBody>
          <a:bodyPr wrap="square">
            <a:spAutoFit/>
          </a:bodyPr>
          <a:lstStyle/>
          <a:p>
            <a:pPr>
              <a:defRPr sz="4000" b="1">
                <a:solidFill>
                  <a:srgbClr val="FFFFFF"/>
                </a:solidFill>
              </a:defRPr>
            </a:pPr>
            <a:r>
              <a:rPr dirty="0"/>
              <a:t>OPTIV PII SHIELD</a:t>
            </a:r>
          </a:p>
          <a:p>
            <a:pPr>
              <a:defRPr sz="2000">
                <a:solidFill>
                  <a:srgbClr val="00D2FF"/>
                </a:solidFill>
              </a:defRPr>
            </a:pPr>
            <a:r>
              <a:rPr dirty="0">
                <a:solidFill>
                  <a:schemeClr val="accent1">
                    <a:lumMod val="60000"/>
                    <a:lumOff val="40000"/>
                  </a:schemeClr>
                </a:solidFill>
              </a:rPr>
              <a:t>Enterprise PII Guardrail &amp; Cryptographic Audit Gateway for Cadence Document Analysis Agents</a:t>
            </a:r>
          </a:p>
          <a:p>
            <a:br>
              <a:rPr dirty="0"/>
            </a:br>
            <a:r>
              <a:rPr dirty="0">
                <a:solidFill>
                  <a:schemeClr val="bg1"/>
                </a:solidFill>
              </a:rPr>
              <a:t>Zero-PII Compliance Architecture | High-Fidelity Layout Retention | Approaching 100% Recall</a:t>
            </a:r>
          </a:p>
        </p:txBody>
      </p:sp>
      <p:sp>
        <p:nvSpPr>
          <p:cNvPr id="4" name="Rounded Rectangle 3"/>
          <p:cNvSpPr/>
          <p:nvPr/>
        </p:nvSpPr>
        <p:spPr>
          <a:xfrm>
            <a:off x="1097280" y="4937760"/>
            <a:ext cx="9875520" cy="1097280"/>
          </a:xfrm>
          <a:prstGeom prst="roundRect">
            <a:avLst/>
          </a:prstGeom>
          <a:solidFill>
            <a:srgbClr val="11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80160" y="5029200"/>
            <a:ext cx="9509760" cy="914400"/>
          </a:xfrm>
          <a:prstGeom prst="rect">
            <a:avLst/>
          </a:prstGeom>
          <a:noFill/>
        </p:spPr>
        <p:txBody>
          <a:bodyPr wrap="none">
            <a:spAutoFit/>
          </a:bodyPr>
          <a:lstStyle/>
          <a:p>
            <a:pPr>
              <a:defRPr sz="1200" b="1">
                <a:solidFill>
                  <a:srgbClr val="FFFFFF"/>
                </a:solidFill>
              </a:defRPr>
            </a:pPr>
            <a:r>
              <a:rPr dirty="0"/>
              <a:t>Stakeholder Walkthrough Deck (10–15 Minutes)  •  Audience: Cadence Internal Audit &amp; Engineering Leadership</a:t>
            </a:r>
          </a:p>
          <a:p>
            <a:pPr>
              <a:defRPr sz="1100">
                <a:solidFill>
                  <a:srgbClr val="94A3B8"/>
                </a:solidFill>
              </a:defRPr>
            </a:pPr>
            <a:r>
              <a:rPr dirty="0"/>
              <a:t>Prepared by: Optiv Cybersecurity Solutions Architecture  |  Environment: Air-Gapped / Zero Egress  |  Date: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49808"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Executive Context: The Zero-PII Policy &amp; Challenge</a:t>
            </a:r>
          </a:p>
        </p:txBody>
      </p:sp>
      <p:sp>
        <p:nvSpPr>
          <p:cNvPr id="4" name="Rounded Rectangle 3"/>
          <p:cNvSpPr/>
          <p:nvPr/>
        </p:nvSpPr>
        <p:spPr>
          <a:xfrm>
            <a:off x="731520"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2962656" cy="4078039"/>
          </a:xfrm>
          <a:prstGeom prst="rect">
            <a:avLst/>
          </a:prstGeom>
          <a:noFill/>
        </p:spPr>
        <p:txBody>
          <a:bodyPr wrap="square">
            <a:spAutoFit/>
          </a:bodyPr>
          <a:lstStyle/>
          <a:p>
            <a:pPr>
              <a:defRPr sz="1300" b="1">
                <a:solidFill>
                  <a:srgbClr val="00D2FF"/>
                </a:solidFill>
              </a:defRPr>
            </a:pPr>
            <a:r>
              <a:rPr dirty="0">
                <a:solidFill>
                  <a:schemeClr val="bg1"/>
                </a:solidFill>
              </a:rPr>
              <a:t>01 | THE MANDATE &amp; RISK</a:t>
            </a:r>
          </a:p>
          <a:p>
            <a:br>
              <a:rPr dirty="0"/>
            </a:br>
            <a:r>
              <a:rPr dirty="0"/>
              <a:t>• </a:t>
            </a:r>
            <a:r>
              <a:rPr sz="1400" dirty="0">
                <a:solidFill>
                  <a:schemeClr val="bg1"/>
                </a:solidFill>
              </a:rPr>
              <a:t>Policy Directive: Strictly prohibits Personally Identifiable Information (PII) from being ingested by LLMs.</a:t>
            </a:r>
            <a:br>
              <a:rPr sz="1400" dirty="0">
                <a:solidFill>
                  <a:schemeClr val="bg1"/>
                </a:solidFill>
              </a:rPr>
            </a:br>
            <a:br>
              <a:rPr sz="1400" dirty="0">
                <a:solidFill>
                  <a:schemeClr val="bg1"/>
                </a:solidFill>
              </a:rPr>
            </a:br>
            <a:r>
              <a:rPr sz="1400" dirty="0">
                <a:solidFill>
                  <a:schemeClr val="bg1"/>
                </a:solidFill>
              </a:rPr>
              <a:t>• The Operational Need: Cadence employees rely on AI agents to evaluate complex business &amp; control evidence.</a:t>
            </a:r>
            <a:br>
              <a:rPr sz="1400" dirty="0">
                <a:solidFill>
                  <a:schemeClr val="bg1"/>
                </a:solidFill>
              </a:rPr>
            </a:br>
            <a:br>
              <a:rPr sz="1400" dirty="0">
                <a:solidFill>
                  <a:schemeClr val="bg1"/>
                </a:solidFill>
              </a:rPr>
            </a:br>
            <a:r>
              <a:rPr sz="1400" dirty="0">
                <a:solidFill>
                  <a:schemeClr val="bg1"/>
                </a:solidFill>
              </a:rPr>
              <a:t>• Compliance Exposure: Accidental PII transmission violates NIST SP 800-53, GDPR Art. 9, CCPA, and Sox controls.</a:t>
            </a:r>
            <a:br>
              <a:rPr sz="1400" dirty="0">
                <a:solidFill>
                  <a:schemeClr val="bg1"/>
                </a:solidFill>
              </a:rPr>
            </a:br>
            <a:br>
              <a:rPr sz="1400" dirty="0">
                <a:solidFill>
                  <a:schemeClr val="bg1"/>
                </a:solidFill>
              </a:rPr>
            </a:br>
            <a:r>
              <a:rPr sz="1400" dirty="0">
                <a:solidFill>
                  <a:schemeClr val="bg1"/>
                </a:solidFill>
              </a:rPr>
              <a:t>• Core Constraint: 0 unidentified PII instances passed downstream to the AI model.</a:t>
            </a:r>
          </a:p>
        </p:txBody>
      </p:sp>
      <p:sp>
        <p:nvSpPr>
          <p:cNvPr id="6" name="Rounded Rectangle 5"/>
          <p:cNvSpPr/>
          <p:nvPr/>
        </p:nvSpPr>
        <p:spPr>
          <a:xfrm>
            <a:off x="4425696"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08576" y="1645920"/>
            <a:ext cx="2962656" cy="4016484"/>
          </a:xfrm>
          <a:prstGeom prst="rect">
            <a:avLst/>
          </a:prstGeom>
          <a:noFill/>
        </p:spPr>
        <p:txBody>
          <a:bodyPr wrap="square">
            <a:spAutoFit/>
          </a:bodyPr>
          <a:lstStyle/>
          <a:p>
            <a:pPr>
              <a:defRPr sz="1300" b="1">
                <a:solidFill>
                  <a:srgbClr val="F59E0B"/>
                </a:solidFill>
              </a:defRPr>
            </a:pPr>
            <a:r>
              <a:rPr dirty="0">
                <a:solidFill>
                  <a:schemeClr val="bg1"/>
                </a:solidFill>
              </a:rPr>
              <a:t>02 | THE CORE CHALLENGES</a:t>
            </a:r>
          </a:p>
          <a:p>
            <a:br>
              <a:rPr dirty="0"/>
            </a:br>
            <a:r>
              <a:rPr sz="1400" dirty="0">
                <a:solidFill>
                  <a:schemeClr val="bg2"/>
                </a:solidFill>
              </a:rPr>
              <a:t>• Heterogeneous Formats: Evidence spans Scanned PDFs, PPTX decks, DOCX checklists, and XLSX registers.</a:t>
            </a:r>
            <a:br>
              <a:rPr sz="1400" dirty="0">
                <a:solidFill>
                  <a:schemeClr val="bg2"/>
                </a:solidFill>
              </a:rPr>
            </a:br>
            <a:br>
              <a:rPr sz="1400" dirty="0">
                <a:solidFill>
                  <a:schemeClr val="bg2"/>
                </a:solidFill>
              </a:rPr>
            </a:br>
            <a:r>
              <a:rPr sz="1400" dirty="0">
                <a:solidFill>
                  <a:schemeClr val="bg2"/>
                </a:solidFill>
              </a:rPr>
              <a:t>• Structure Retention: Extracted content must retain &gt;= 80% original structure so LLMs retain reasoning context.</a:t>
            </a:r>
            <a:br>
              <a:rPr sz="1400" dirty="0">
                <a:solidFill>
                  <a:schemeClr val="bg2"/>
                </a:solidFill>
              </a:rPr>
            </a:br>
            <a:br>
              <a:rPr sz="1400" dirty="0">
                <a:solidFill>
                  <a:schemeClr val="bg2"/>
                </a:solidFill>
              </a:rPr>
            </a:br>
            <a:r>
              <a:rPr sz="1400" dirty="0">
                <a:solidFill>
                  <a:schemeClr val="bg2"/>
                </a:solidFill>
              </a:rPr>
              <a:t>• Precision vs Recall: Must eliminate false positives without allowing any sensitive entity to slip through.</a:t>
            </a:r>
            <a:br>
              <a:rPr sz="1400" dirty="0">
                <a:solidFill>
                  <a:schemeClr val="bg2"/>
                </a:solidFill>
              </a:rPr>
            </a:br>
            <a:br>
              <a:rPr sz="1400" dirty="0">
                <a:solidFill>
                  <a:schemeClr val="bg2"/>
                </a:solidFill>
              </a:rPr>
            </a:br>
            <a:r>
              <a:rPr sz="1400" dirty="0">
                <a:solidFill>
                  <a:schemeClr val="bg2"/>
                </a:solidFill>
              </a:rPr>
              <a:t>• Explainability: Audit teams require full source traceability back to specific pages, slides, and rows.</a:t>
            </a:r>
          </a:p>
        </p:txBody>
      </p:sp>
      <p:sp>
        <p:nvSpPr>
          <p:cNvPr id="8" name="Rounded Rectangle 7"/>
          <p:cNvSpPr/>
          <p:nvPr/>
        </p:nvSpPr>
        <p:spPr>
          <a:xfrm>
            <a:off x="8119872"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02752" y="1645920"/>
            <a:ext cx="2962656" cy="4016484"/>
          </a:xfrm>
          <a:prstGeom prst="rect">
            <a:avLst/>
          </a:prstGeom>
          <a:noFill/>
        </p:spPr>
        <p:txBody>
          <a:bodyPr wrap="square">
            <a:spAutoFit/>
          </a:bodyPr>
          <a:lstStyle/>
          <a:p>
            <a:pPr>
              <a:defRPr sz="1300" b="1">
                <a:solidFill>
                  <a:srgbClr val="10B981"/>
                </a:solidFill>
              </a:defRPr>
            </a:pPr>
            <a:r>
              <a:rPr dirty="0">
                <a:solidFill>
                  <a:schemeClr val="bg1"/>
                </a:solidFill>
              </a:rPr>
              <a:t>03 | THE OPTIV SOLUTION</a:t>
            </a:r>
          </a:p>
          <a:p>
            <a:br>
              <a:rPr dirty="0"/>
            </a:br>
            <a:r>
              <a:rPr sz="1400" dirty="0">
                <a:solidFill>
                  <a:schemeClr val="bg2"/>
                </a:solidFill>
              </a:rPr>
              <a:t>• High-Fidelity Extractors: Specialized parsers preserving Markdown headers, tables, and notes.</a:t>
            </a:r>
            <a:br>
              <a:rPr sz="1400" dirty="0">
                <a:solidFill>
                  <a:schemeClr val="bg2"/>
                </a:solidFill>
              </a:rPr>
            </a:br>
            <a:br>
              <a:rPr sz="1400" dirty="0">
                <a:solidFill>
                  <a:schemeClr val="bg2"/>
                </a:solidFill>
              </a:rPr>
            </a:br>
            <a:r>
              <a:rPr sz="1400" dirty="0">
                <a:solidFill>
                  <a:schemeClr val="bg2"/>
                </a:solidFill>
              </a:rPr>
              <a:t>• 4-Tier Hybrid Engine: Checksum validators + Presidio NLP + Context heuristics + Secondary guardrails.</a:t>
            </a:r>
            <a:br>
              <a:rPr sz="1400" dirty="0">
                <a:solidFill>
                  <a:schemeClr val="bg2"/>
                </a:solidFill>
              </a:rPr>
            </a:br>
            <a:br>
              <a:rPr sz="1400" dirty="0">
                <a:solidFill>
                  <a:schemeClr val="bg2"/>
                </a:solidFill>
              </a:rPr>
            </a:br>
            <a:r>
              <a:rPr sz="1400" dirty="0">
                <a:solidFill>
                  <a:schemeClr val="bg2"/>
                </a:solidFill>
              </a:rPr>
              <a:t>• Transparent Tagging: Semantic tokens ([REDACTED:PERSON_1]) preserving coreference consistency.</a:t>
            </a:r>
            <a:br>
              <a:rPr sz="1400" dirty="0">
                <a:solidFill>
                  <a:schemeClr val="bg2"/>
                </a:solidFill>
              </a:rPr>
            </a:br>
            <a:br>
              <a:rPr sz="1400" dirty="0">
                <a:solidFill>
                  <a:schemeClr val="bg2"/>
                </a:solidFill>
              </a:rPr>
            </a:br>
            <a:r>
              <a:rPr sz="1400" dirty="0">
                <a:solidFill>
                  <a:schemeClr val="bg2"/>
                </a:solidFill>
              </a:rPr>
              <a:t>• Cryptographic Provenance: Dual-mode irreversible LLM export and AES-256 auditor vault with SHA-256 integrity.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01 Solution Blueprint: End-to-End Functional Data Flow</a:t>
            </a:r>
          </a:p>
        </p:txBody>
      </p:sp>
      <p:sp>
        <p:nvSpPr>
          <p:cNvPr id="4" name="Rounded Rectangle 3"/>
          <p:cNvSpPr/>
          <p:nvPr/>
        </p:nvSpPr>
        <p:spPr>
          <a:xfrm>
            <a:off x="731520" y="1371600"/>
            <a:ext cx="10725912" cy="10972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63040"/>
            <a:ext cx="10332720" cy="738664"/>
          </a:xfrm>
          <a:prstGeom prst="rect">
            <a:avLst/>
          </a:prstGeom>
          <a:noFill/>
        </p:spPr>
        <p:txBody>
          <a:bodyPr wrap="square">
            <a:spAutoFit/>
          </a:bodyPr>
          <a:lstStyle/>
          <a:p>
            <a:pPr>
              <a:defRPr sz="1200" b="1">
                <a:solidFill>
                  <a:srgbClr val="00D2FF"/>
                </a:solidFill>
              </a:defRPr>
            </a:pPr>
            <a:r>
              <a:rPr dirty="0">
                <a:solidFill>
                  <a:schemeClr val="bg1"/>
                </a:solidFill>
              </a:rPr>
              <a:t>FUNCTIONAL PIPELINE ARCHITECTURE</a:t>
            </a:r>
          </a:p>
          <a:p>
            <a:pPr>
              <a:defRPr sz="1500" b="1">
                <a:solidFill>
                  <a:srgbClr val="FFFFFF"/>
                </a:solidFill>
              </a:defRPr>
            </a:pPr>
            <a:r>
              <a:rPr dirty="0"/>
              <a:t>Evidence Ingestion  ➔  Layout &amp; Structure Extraction  ➔  Multi-Tier PII Detection  ➔  Transparent Redactor  ➔  Audit &amp; LLM Gateway</a:t>
            </a:r>
          </a:p>
        </p:txBody>
      </p:sp>
      <p:sp>
        <p:nvSpPr>
          <p:cNvPr id="6" name="Rounded Rectangle 5"/>
          <p:cNvSpPr/>
          <p:nvPr/>
        </p:nvSpPr>
        <p:spPr>
          <a:xfrm>
            <a:off x="731520" y="2651760"/>
            <a:ext cx="2487168" cy="365760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788920"/>
            <a:ext cx="2212848" cy="3108543"/>
          </a:xfrm>
          <a:prstGeom prst="rect">
            <a:avLst/>
          </a:prstGeom>
          <a:noFill/>
        </p:spPr>
        <p:txBody>
          <a:bodyPr wrap="square">
            <a:spAutoFit/>
          </a:bodyPr>
          <a:lstStyle/>
          <a:p>
            <a:pPr>
              <a:defRPr sz="1100" b="1">
                <a:solidFill>
                  <a:srgbClr val="00D2FF"/>
                </a:solidFill>
              </a:defRPr>
            </a:pPr>
            <a:r>
              <a:rPr sz="1400" dirty="0">
                <a:solidFill>
                  <a:schemeClr val="bg1"/>
                </a:solidFill>
              </a:rPr>
              <a:t>STAGE 1: INGESTION &amp; PARSING</a:t>
            </a:r>
          </a:p>
          <a:p>
            <a:pPr>
              <a:defRPr sz="1000">
                <a:solidFill>
                  <a:srgbClr val="FFFFFF"/>
                </a:solidFill>
              </a:defRPr>
            </a:pPr>
            <a:r>
              <a:rPr dirty="0"/>
              <a:t>• </a:t>
            </a:r>
            <a:r>
              <a:rPr sz="1400" dirty="0"/>
              <a:t>Multi-format adapter engine</a:t>
            </a:r>
          </a:p>
          <a:p>
            <a:pPr>
              <a:defRPr sz="1000">
                <a:solidFill>
                  <a:srgbClr val="FFFFFF"/>
                </a:solidFill>
              </a:defRPr>
            </a:pPr>
            <a:r>
              <a:rPr sz="1400" dirty="0"/>
              <a:t>• </a:t>
            </a:r>
            <a:r>
              <a:rPr sz="1400" dirty="0" err="1"/>
              <a:t>PyMuPDF</a:t>
            </a:r>
            <a:r>
              <a:rPr sz="1400" dirty="0"/>
              <a:t> layout analysis &amp; OCR</a:t>
            </a:r>
          </a:p>
          <a:p>
            <a:pPr>
              <a:defRPr sz="1000">
                <a:solidFill>
                  <a:srgbClr val="FFFFFF"/>
                </a:solidFill>
              </a:defRPr>
            </a:pPr>
            <a:r>
              <a:rPr sz="1400" dirty="0"/>
              <a:t>• PPTX shapes, tables &amp; notes</a:t>
            </a:r>
          </a:p>
          <a:p>
            <a:pPr>
              <a:defRPr sz="1000">
                <a:solidFill>
                  <a:srgbClr val="FFFFFF"/>
                </a:solidFill>
              </a:defRPr>
            </a:pPr>
            <a:r>
              <a:rPr sz="1400" dirty="0"/>
              <a:t>• DOCX styles &amp; markdown tables</a:t>
            </a:r>
          </a:p>
          <a:p>
            <a:pPr>
              <a:defRPr sz="1000">
                <a:solidFill>
                  <a:srgbClr val="FFFFFF"/>
                </a:solidFill>
              </a:defRPr>
            </a:pPr>
            <a:r>
              <a:rPr sz="1400" dirty="0"/>
              <a:t>• XLSX sheets &amp; column matrices</a:t>
            </a:r>
          </a:p>
          <a:p>
            <a:pPr>
              <a:defRPr sz="1000">
                <a:solidFill>
                  <a:srgbClr val="FFFFFF"/>
                </a:solidFill>
              </a:defRPr>
            </a:pPr>
            <a:r>
              <a:rPr sz="1400" dirty="0"/>
              <a:t>• Structure metric calculated</a:t>
            </a:r>
          </a:p>
        </p:txBody>
      </p:sp>
      <p:sp>
        <p:nvSpPr>
          <p:cNvPr id="8" name="Rounded Rectangle 7"/>
          <p:cNvSpPr/>
          <p:nvPr/>
        </p:nvSpPr>
        <p:spPr>
          <a:xfrm>
            <a:off x="3474720" y="2651760"/>
            <a:ext cx="2487168" cy="365760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11880" y="2788920"/>
            <a:ext cx="2212848" cy="2893100"/>
          </a:xfrm>
          <a:prstGeom prst="rect">
            <a:avLst/>
          </a:prstGeom>
          <a:noFill/>
        </p:spPr>
        <p:txBody>
          <a:bodyPr wrap="square">
            <a:spAutoFit/>
          </a:bodyPr>
          <a:lstStyle/>
          <a:p>
            <a:pPr>
              <a:defRPr sz="1100" b="1">
                <a:solidFill>
                  <a:srgbClr val="F59E0B"/>
                </a:solidFill>
              </a:defRPr>
            </a:pPr>
            <a:r>
              <a:rPr sz="1400" dirty="0">
                <a:solidFill>
                  <a:schemeClr val="bg1"/>
                </a:solidFill>
              </a:rPr>
              <a:t>STAGE 2: MULTI-TIER DETECTION</a:t>
            </a:r>
          </a:p>
          <a:p>
            <a:pPr>
              <a:defRPr sz="1000">
                <a:solidFill>
                  <a:srgbClr val="FFFFFF"/>
                </a:solidFill>
              </a:defRPr>
            </a:pPr>
            <a:r>
              <a:rPr dirty="0"/>
              <a:t>• </a:t>
            </a:r>
            <a:r>
              <a:rPr sz="1400" dirty="0"/>
              <a:t>Tier 1: Checksum validators (Luhn CC, ABA routing, SSN)</a:t>
            </a:r>
          </a:p>
          <a:p>
            <a:pPr>
              <a:defRPr sz="1000">
                <a:solidFill>
                  <a:srgbClr val="FFFFFF"/>
                </a:solidFill>
              </a:defRPr>
            </a:pPr>
            <a:r>
              <a:rPr sz="1400" dirty="0"/>
              <a:t>• Cadence EMP ID regex</a:t>
            </a:r>
          </a:p>
          <a:p>
            <a:pPr>
              <a:defRPr sz="1000">
                <a:solidFill>
                  <a:srgbClr val="FFFFFF"/>
                </a:solidFill>
              </a:defRPr>
            </a:pPr>
            <a:r>
              <a:rPr sz="1400" dirty="0"/>
              <a:t>• Tier 2: Presidio &amp; </a:t>
            </a:r>
            <a:r>
              <a:rPr sz="1400" dirty="0" err="1"/>
              <a:t>SpaCy</a:t>
            </a:r>
            <a:r>
              <a:rPr sz="1400" dirty="0"/>
              <a:t> NLP</a:t>
            </a:r>
          </a:p>
          <a:p>
            <a:pPr>
              <a:defRPr sz="1000">
                <a:solidFill>
                  <a:srgbClr val="FFFFFF"/>
                </a:solidFill>
              </a:defRPr>
            </a:pPr>
            <a:r>
              <a:rPr sz="1400" dirty="0"/>
              <a:t>• Tier 3: Proximity boost (+/-45c)</a:t>
            </a:r>
          </a:p>
          <a:p>
            <a:pPr>
              <a:defRPr sz="1000">
                <a:solidFill>
                  <a:srgbClr val="FFFFFF"/>
                </a:solidFill>
              </a:defRPr>
            </a:pPr>
            <a:r>
              <a:rPr sz="1400" dirty="0"/>
              <a:t>• Tier 4: Residual safety guardrail</a:t>
            </a:r>
          </a:p>
          <a:p>
            <a:pPr>
              <a:defRPr sz="1000">
                <a:solidFill>
                  <a:srgbClr val="FFFFFF"/>
                </a:solidFill>
              </a:defRPr>
            </a:pPr>
            <a:r>
              <a:rPr sz="1400" dirty="0"/>
              <a:t>• Approaching 100% Recall</a:t>
            </a:r>
          </a:p>
        </p:txBody>
      </p:sp>
      <p:sp>
        <p:nvSpPr>
          <p:cNvPr id="10" name="Rounded Rectangle 9"/>
          <p:cNvSpPr/>
          <p:nvPr/>
        </p:nvSpPr>
        <p:spPr>
          <a:xfrm>
            <a:off x="6217920" y="2651760"/>
            <a:ext cx="2487168" cy="365760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2788920"/>
            <a:ext cx="2212848" cy="2677656"/>
          </a:xfrm>
          <a:prstGeom prst="rect">
            <a:avLst/>
          </a:prstGeom>
          <a:noFill/>
        </p:spPr>
        <p:txBody>
          <a:bodyPr wrap="square">
            <a:spAutoFit/>
          </a:bodyPr>
          <a:lstStyle/>
          <a:p>
            <a:pPr>
              <a:defRPr sz="1100" b="1">
                <a:solidFill>
                  <a:srgbClr val="10B981"/>
                </a:solidFill>
              </a:defRPr>
            </a:pPr>
            <a:r>
              <a:rPr sz="1400" dirty="0">
                <a:solidFill>
                  <a:schemeClr val="bg1"/>
                </a:solidFill>
              </a:rPr>
              <a:t>STAGE 3: TRANSPARENT REDACTION</a:t>
            </a:r>
          </a:p>
          <a:p>
            <a:pPr>
              <a:defRPr sz="1000">
                <a:solidFill>
                  <a:srgbClr val="FFFFFF"/>
                </a:solidFill>
              </a:defRPr>
            </a:pPr>
            <a:r>
              <a:rPr dirty="0"/>
              <a:t>• </a:t>
            </a:r>
            <a:r>
              <a:rPr sz="1400" dirty="0"/>
              <a:t>Deterministic semantic tags</a:t>
            </a:r>
          </a:p>
          <a:p>
            <a:pPr>
              <a:defRPr sz="1000">
                <a:solidFill>
                  <a:srgbClr val="FFFFFF"/>
                </a:solidFill>
              </a:defRPr>
            </a:pPr>
            <a:r>
              <a:rPr sz="1400" dirty="0"/>
              <a:t>• Coreference consistency</a:t>
            </a:r>
          </a:p>
          <a:p>
            <a:pPr>
              <a:defRPr sz="1000">
                <a:solidFill>
                  <a:srgbClr val="FFFFFF"/>
                </a:solidFill>
              </a:defRPr>
            </a:pPr>
            <a:r>
              <a:rPr sz="1400" dirty="0"/>
              <a:t>• Preserves sentence grammar</a:t>
            </a:r>
          </a:p>
          <a:p>
            <a:pPr>
              <a:defRPr sz="1000">
                <a:solidFill>
                  <a:srgbClr val="FFFFFF"/>
                </a:solidFill>
              </a:defRPr>
            </a:pPr>
            <a:r>
              <a:rPr sz="1400" dirty="0"/>
              <a:t>• Surrounding context intact</a:t>
            </a:r>
          </a:p>
          <a:p>
            <a:pPr>
              <a:defRPr sz="1000">
                <a:solidFill>
                  <a:srgbClr val="FFFFFF"/>
                </a:solidFill>
              </a:defRPr>
            </a:pPr>
            <a:r>
              <a:rPr sz="1400" dirty="0"/>
              <a:t>• Irreversible LLM export mode</a:t>
            </a:r>
          </a:p>
          <a:p>
            <a:pPr>
              <a:defRPr sz="1000">
                <a:solidFill>
                  <a:srgbClr val="FFFFFF"/>
                </a:solidFill>
              </a:defRPr>
            </a:pPr>
            <a:r>
              <a:rPr sz="1400" dirty="0"/>
              <a:t>• Reversible AES-256 Vault</a:t>
            </a:r>
          </a:p>
        </p:txBody>
      </p:sp>
      <p:sp>
        <p:nvSpPr>
          <p:cNvPr id="12" name="Rounded Rectangle 11"/>
          <p:cNvSpPr/>
          <p:nvPr/>
        </p:nvSpPr>
        <p:spPr>
          <a:xfrm>
            <a:off x="8961120" y="2651760"/>
            <a:ext cx="2487168" cy="365760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98280" y="2788920"/>
            <a:ext cx="2212848" cy="2462213"/>
          </a:xfrm>
          <a:prstGeom prst="rect">
            <a:avLst/>
          </a:prstGeom>
          <a:noFill/>
        </p:spPr>
        <p:txBody>
          <a:bodyPr wrap="square">
            <a:spAutoFit/>
          </a:bodyPr>
          <a:lstStyle/>
          <a:p>
            <a:pPr>
              <a:defRPr sz="1100" b="1">
                <a:solidFill>
                  <a:srgbClr val="00D2FF"/>
                </a:solidFill>
              </a:defRPr>
            </a:pPr>
            <a:r>
              <a:rPr sz="1400" dirty="0">
                <a:solidFill>
                  <a:schemeClr val="bg1"/>
                </a:solidFill>
              </a:rPr>
              <a:t>STAGE 4: AUDIT &amp; EXPOSURE</a:t>
            </a:r>
          </a:p>
          <a:p>
            <a:pPr>
              <a:defRPr sz="1000">
                <a:solidFill>
                  <a:srgbClr val="FFFFFF"/>
                </a:solidFill>
              </a:defRPr>
            </a:pPr>
            <a:r>
              <a:rPr dirty="0"/>
              <a:t>• </a:t>
            </a:r>
            <a:r>
              <a:rPr sz="1400" dirty="0"/>
              <a:t>SHA-256 input/output hashes</a:t>
            </a:r>
          </a:p>
          <a:p>
            <a:pPr>
              <a:defRPr sz="1000">
                <a:solidFill>
                  <a:srgbClr val="FFFFFF"/>
                </a:solidFill>
              </a:defRPr>
            </a:pPr>
            <a:r>
              <a:rPr sz="1400" dirty="0"/>
              <a:t>• Cadence Exposure Matrix</a:t>
            </a:r>
          </a:p>
          <a:p>
            <a:pPr>
              <a:defRPr sz="1000">
                <a:solidFill>
                  <a:srgbClr val="FFFFFF"/>
                </a:solidFill>
              </a:defRPr>
            </a:pPr>
            <a:r>
              <a:rPr sz="1400" dirty="0"/>
              <a:t>• Risk profiling (Critical/High)</a:t>
            </a:r>
          </a:p>
          <a:p>
            <a:pPr>
              <a:defRPr sz="1000">
                <a:solidFill>
                  <a:srgbClr val="FFFFFF"/>
                </a:solidFill>
              </a:defRPr>
            </a:pPr>
            <a:r>
              <a:rPr sz="1400" dirty="0"/>
              <a:t>• NIST SP 800-53 crosswalk</a:t>
            </a:r>
          </a:p>
          <a:p>
            <a:pPr>
              <a:defRPr sz="1000">
                <a:solidFill>
                  <a:srgbClr val="FFFFFF"/>
                </a:solidFill>
              </a:defRPr>
            </a:pPr>
            <a:r>
              <a:rPr sz="1400" dirty="0"/>
              <a:t>• Tamper-evident audit JSON</a:t>
            </a:r>
          </a:p>
          <a:p>
            <a:pPr>
              <a:defRPr sz="1000">
                <a:solidFill>
                  <a:srgbClr val="FFFFFF"/>
                </a:solidFill>
              </a:defRPr>
            </a:pPr>
            <a:r>
              <a:rPr sz="1400" dirty="0"/>
              <a:t>• Zero PII certified to LLM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02 System Architecture: Technical Components &amp; Security Perimeter</a:t>
            </a:r>
          </a:p>
        </p:txBody>
      </p:sp>
      <p:sp>
        <p:nvSpPr>
          <p:cNvPr id="4" name="Rounded Rectangle 3"/>
          <p:cNvSpPr/>
          <p:nvPr/>
        </p:nvSpPr>
        <p:spPr>
          <a:xfrm>
            <a:off x="731520" y="1371600"/>
            <a:ext cx="6217920" cy="49377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54480"/>
            <a:ext cx="5852160" cy="4078039"/>
          </a:xfrm>
          <a:prstGeom prst="rect">
            <a:avLst/>
          </a:prstGeom>
          <a:noFill/>
        </p:spPr>
        <p:txBody>
          <a:bodyPr wrap="square">
            <a:spAutoFit/>
          </a:bodyPr>
          <a:lstStyle/>
          <a:p>
            <a:pPr>
              <a:defRPr sz="1300" b="1">
                <a:solidFill>
                  <a:srgbClr val="00D2FF"/>
                </a:solidFill>
              </a:defRPr>
            </a:pPr>
            <a:r>
              <a:rPr dirty="0">
                <a:solidFill>
                  <a:schemeClr val="bg1"/>
                </a:solidFill>
              </a:rPr>
              <a:t>LAYERED TECHNICAL STACK</a:t>
            </a:r>
          </a:p>
          <a:p>
            <a:br>
              <a:rPr dirty="0"/>
            </a:br>
            <a:r>
              <a:rPr sz="1400" dirty="0">
                <a:solidFill>
                  <a:schemeClr val="bg1"/>
                </a:solidFill>
              </a:rPr>
              <a:t>1</a:t>
            </a:r>
            <a:r>
              <a:rPr dirty="0"/>
              <a:t>. </a:t>
            </a:r>
            <a:r>
              <a:rPr sz="1400" dirty="0">
                <a:solidFill>
                  <a:schemeClr val="bg1"/>
                </a:solidFill>
              </a:rPr>
              <a:t>Ingestion Adapter Layer:</a:t>
            </a:r>
            <a:br>
              <a:rPr sz="1400" dirty="0">
                <a:solidFill>
                  <a:schemeClr val="bg1"/>
                </a:solidFill>
              </a:rPr>
            </a:br>
            <a:r>
              <a:rPr sz="1400" dirty="0">
                <a:solidFill>
                  <a:schemeClr val="bg1"/>
                </a:solidFill>
              </a:rPr>
              <a:t>   • </a:t>
            </a:r>
            <a:r>
              <a:rPr sz="1400" dirty="0" err="1">
                <a:solidFill>
                  <a:schemeClr val="bg1"/>
                </a:solidFill>
              </a:rPr>
              <a:t>PyMuPDF</a:t>
            </a:r>
            <a:r>
              <a:rPr sz="1400" dirty="0">
                <a:solidFill>
                  <a:schemeClr val="bg1"/>
                </a:solidFill>
              </a:rPr>
              <a:t> (v1.28) with coordinate boundary mapping</a:t>
            </a:r>
            <a:br>
              <a:rPr sz="1400" dirty="0">
                <a:solidFill>
                  <a:schemeClr val="bg1"/>
                </a:solidFill>
              </a:rPr>
            </a:br>
            <a:r>
              <a:rPr sz="1400" dirty="0">
                <a:solidFill>
                  <a:schemeClr val="bg1"/>
                </a:solidFill>
              </a:rPr>
              <a:t>   • python-pptx (v1.0) deep-shape parser &amp; presenter notes extractor</a:t>
            </a:r>
            <a:br>
              <a:rPr sz="1400" dirty="0">
                <a:solidFill>
                  <a:schemeClr val="bg1"/>
                </a:solidFill>
              </a:rPr>
            </a:br>
            <a:r>
              <a:rPr sz="1400" dirty="0">
                <a:solidFill>
                  <a:schemeClr val="bg1"/>
                </a:solidFill>
              </a:rPr>
              <a:t>   • python-docx (v1.2) XML paragraph &amp; grid table </a:t>
            </a:r>
            <a:r>
              <a:rPr sz="1400" dirty="0" err="1">
                <a:solidFill>
                  <a:schemeClr val="bg1"/>
                </a:solidFill>
              </a:rPr>
              <a:t>serialiser</a:t>
            </a:r>
            <a:br>
              <a:rPr sz="1400" dirty="0">
                <a:solidFill>
                  <a:schemeClr val="bg1"/>
                </a:solidFill>
              </a:rPr>
            </a:br>
            <a:r>
              <a:rPr sz="1400" dirty="0">
                <a:solidFill>
                  <a:schemeClr val="bg1"/>
                </a:solidFill>
              </a:rPr>
              <a:t>   • </a:t>
            </a:r>
            <a:r>
              <a:rPr sz="1400" dirty="0" err="1">
                <a:solidFill>
                  <a:schemeClr val="bg1"/>
                </a:solidFill>
              </a:rPr>
              <a:t>openpyxl</a:t>
            </a:r>
            <a:r>
              <a:rPr sz="1400" dirty="0">
                <a:solidFill>
                  <a:schemeClr val="bg1"/>
                </a:solidFill>
              </a:rPr>
              <a:t> (v3.1) cell iterator &amp; tabular markdown formatter</a:t>
            </a:r>
            <a:br>
              <a:rPr sz="1400" dirty="0">
                <a:solidFill>
                  <a:schemeClr val="bg1"/>
                </a:solidFill>
              </a:rPr>
            </a:br>
            <a:br>
              <a:rPr sz="1400" dirty="0">
                <a:solidFill>
                  <a:schemeClr val="bg1"/>
                </a:solidFill>
              </a:rPr>
            </a:br>
            <a:r>
              <a:rPr sz="1400" dirty="0">
                <a:solidFill>
                  <a:schemeClr val="bg1"/>
                </a:solidFill>
              </a:rPr>
              <a:t>2. Multi-Engine Detection Core:</a:t>
            </a:r>
            <a:br>
              <a:rPr sz="1400" dirty="0">
                <a:solidFill>
                  <a:schemeClr val="bg1"/>
                </a:solidFill>
              </a:rPr>
            </a:br>
            <a:r>
              <a:rPr sz="1400" dirty="0">
                <a:solidFill>
                  <a:schemeClr val="bg1"/>
                </a:solidFill>
              </a:rPr>
              <a:t>   • Microsoft Presidio Analyzer + </a:t>
            </a:r>
            <a:r>
              <a:rPr sz="1400" dirty="0" err="1">
                <a:solidFill>
                  <a:schemeClr val="bg1"/>
                </a:solidFill>
              </a:rPr>
              <a:t>SpaCy</a:t>
            </a:r>
            <a:r>
              <a:rPr sz="1400" dirty="0">
                <a:solidFill>
                  <a:schemeClr val="bg1"/>
                </a:solidFill>
              </a:rPr>
              <a:t> </a:t>
            </a:r>
            <a:r>
              <a:rPr sz="1400" dirty="0" err="1">
                <a:solidFill>
                  <a:schemeClr val="bg1"/>
                </a:solidFill>
              </a:rPr>
              <a:t>en_core_web_lg</a:t>
            </a:r>
            <a:r>
              <a:rPr sz="1400" dirty="0">
                <a:solidFill>
                  <a:schemeClr val="bg1"/>
                </a:solidFill>
              </a:rPr>
              <a:t> model</a:t>
            </a:r>
            <a:br>
              <a:rPr sz="1400" dirty="0">
                <a:solidFill>
                  <a:schemeClr val="bg1"/>
                </a:solidFill>
              </a:rPr>
            </a:br>
            <a:r>
              <a:rPr sz="1400" dirty="0">
                <a:solidFill>
                  <a:schemeClr val="bg1"/>
                </a:solidFill>
              </a:rPr>
              <a:t>   • Deterministic Checksum Engine (Luhn Mod-10, ABA Fedwire, SSA Rules)</a:t>
            </a:r>
            <a:br>
              <a:rPr sz="1400" dirty="0">
                <a:solidFill>
                  <a:schemeClr val="bg1"/>
                </a:solidFill>
              </a:rPr>
            </a:br>
            <a:r>
              <a:rPr sz="1400" dirty="0">
                <a:solidFill>
                  <a:schemeClr val="bg1"/>
                </a:solidFill>
              </a:rPr>
              <a:t>   • Contextual Heuristic Window Engine (+/- 45 chars)</a:t>
            </a:r>
            <a:br>
              <a:rPr sz="1400" dirty="0">
                <a:solidFill>
                  <a:schemeClr val="bg1"/>
                </a:solidFill>
              </a:rPr>
            </a:br>
            <a:r>
              <a:rPr sz="1400" dirty="0">
                <a:solidFill>
                  <a:schemeClr val="bg1"/>
                </a:solidFill>
              </a:rPr>
              <a:t>   • Curated False Positive Deny-List &amp; Residual Guardrail</a:t>
            </a:r>
            <a:br>
              <a:rPr sz="1400" dirty="0">
                <a:solidFill>
                  <a:schemeClr val="bg1"/>
                </a:solidFill>
              </a:rPr>
            </a:br>
            <a:br>
              <a:rPr sz="1400" dirty="0">
                <a:solidFill>
                  <a:schemeClr val="bg1"/>
                </a:solidFill>
              </a:rPr>
            </a:br>
            <a:r>
              <a:rPr sz="1400" dirty="0">
                <a:solidFill>
                  <a:schemeClr val="bg1"/>
                </a:solidFill>
              </a:rPr>
              <a:t>3. Cryptographic Governance &amp; Token Vault:</a:t>
            </a:r>
            <a:br>
              <a:rPr sz="1400" dirty="0">
                <a:solidFill>
                  <a:schemeClr val="bg1"/>
                </a:solidFill>
              </a:rPr>
            </a:br>
            <a:r>
              <a:rPr sz="1400" dirty="0">
                <a:solidFill>
                  <a:schemeClr val="bg1"/>
                </a:solidFill>
              </a:rPr>
              <a:t>   • Cryptography (v48.0) AES-256-GCM authenticated cipher</a:t>
            </a:r>
            <a:br>
              <a:rPr sz="1400" dirty="0">
                <a:solidFill>
                  <a:schemeClr val="bg1"/>
                </a:solidFill>
              </a:rPr>
            </a:br>
            <a:r>
              <a:rPr sz="1400" dirty="0">
                <a:solidFill>
                  <a:schemeClr val="bg1"/>
                </a:solidFill>
              </a:rPr>
              <a:t>   • PBKDF2HMAC (SHA-256, 100,000 iterations) key derivation</a:t>
            </a:r>
            <a:br>
              <a:rPr sz="1400" dirty="0">
                <a:solidFill>
                  <a:schemeClr val="bg1"/>
                </a:solidFill>
              </a:rPr>
            </a:br>
            <a:r>
              <a:rPr sz="1400" dirty="0">
                <a:solidFill>
                  <a:schemeClr val="bg1"/>
                </a:solidFill>
              </a:rPr>
              <a:t>   • SHA-256 cryptographic provenance hashing &amp; tamper-evident audit</a:t>
            </a:r>
          </a:p>
        </p:txBody>
      </p:sp>
      <p:sp>
        <p:nvSpPr>
          <p:cNvPr id="6" name="Rounded Rectangle 5"/>
          <p:cNvSpPr/>
          <p:nvPr/>
        </p:nvSpPr>
        <p:spPr>
          <a:xfrm>
            <a:off x="7223760" y="1371600"/>
            <a:ext cx="4206240" cy="49377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06640" y="1554480"/>
            <a:ext cx="3840480" cy="4572000"/>
          </a:xfrm>
          <a:prstGeom prst="rect">
            <a:avLst/>
          </a:prstGeom>
          <a:noFill/>
        </p:spPr>
        <p:txBody>
          <a:bodyPr wrap="square">
            <a:spAutoFit/>
          </a:bodyPr>
          <a:lstStyle/>
          <a:p>
            <a:pPr>
              <a:defRPr sz="1300" b="1">
                <a:solidFill>
                  <a:srgbClr val="10B981"/>
                </a:solidFill>
              </a:defRPr>
            </a:pPr>
            <a:r>
              <a:rPr sz="1400" dirty="0">
                <a:solidFill>
                  <a:schemeClr val="bg1"/>
                </a:solidFill>
              </a:rPr>
              <a:t>AIR-GAPPED SECURITY PERIMETER</a:t>
            </a:r>
          </a:p>
          <a:p>
            <a:br>
              <a:rPr sz="1400" dirty="0">
                <a:solidFill>
                  <a:schemeClr val="bg1"/>
                </a:solidFill>
              </a:rPr>
            </a:br>
            <a:r>
              <a:rPr sz="1400" dirty="0">
                <a:solidFill>
                  <a:schemeClr val="bg1"/>
                </a:solidFill>
              </a:rPr>
              <a:t>• Zero External Network Egress:</a:t>
            </a:r>
            <a:br>
              <a:rPr sz="1400" dirty="0">
                <a:solidFill>
                  <a:schemeClr val="bg1"/>
                </a:solidFill>
              </a:rPr>
            </a:br>
            <a:r>
              <a:rPr sz="1400" dirty="0">
                <a:solidFill>
                  <a:schemeClr val="bg1"/>
                </a:solidFill>
              </a:rPr>
              <a:t>  Processing is 100% on-premise / local. No document bytes or PII tokens are ever transmitted to third-party APIs.</a:t>
            </a:r>
            <a:br>
              <a:rPr sz="1400" dirty="0">
                <a:solidFill>
                  <a:schemeClr val="bg1"/>
                </a:solidFill>
              </a:rPr>
            </a:br>
            <a:br>
              <a:rPr sz="1400" dirty="0">
                <a:solidFill>
                  <a:schemeClr val="bg1"/>
                </a:solidFill>
              </a:rPr>
            </a:br>
            <a:r>
              <a:rPr sz="1400" dirty="0">
                <a:solidFill>
                  <a:schemeClr val="bg1"/>
                </a:solidFill>
              </a:rPr>
              <a:t>• Dual-Role Security Boundary:</a:t>
            </a:r>
            <a:br>
              <a:rPr sz="1400" dirty="0">
                <a:solidFill>
                  <a:schemeClr val="bg1"/>
                </a:solidFill>
              </a:rPr>
            </a:br>
            <a:r>
              <a:rPr sz="1400" dirty="0">
                <a:solidFill>
                  <a:schemeClr val="bg1"/>
                </a:solidFill>
              </a:rPr>
              <a:t>  1. LLM Safe Gateway Role: Receives irreversible redacted text with zero keys or mapping data.</a:t>
            </a:r>
            <a:br>
              <a:rPr sz="1400" dirty="0">
                <a:solidFill>
                  <a:schemeClr val="bg1"/>
                </a:solidFill>
              </a:rPr>
            </a:br>
            <a:r>
              <a:rPr sz="1400" dirty="0">
                <a:solidFill>
                  <a:schemeClr val="bg1"/>
                </a:solidFill>
              </a:rPr>
              <a:t>  2. Auditor Enclave Role: Requires master passphrase to decrypt token vault for regulatory attestations.</a:t>
            </a:r>
            <a:br>
              <a:rPr sz="1400" dirty="0">
                <a:solidFill>
                  <a:schemeClr val="bg1"/>
                </a:solidFill>
              </a:rPr>
            </a:br>
            <a:br>
              <a:rPr sz="1400" dirty="0">
                <a:solidFill>
                  <a:schemeClr val="bg1"/>
                </a:solidFill>
              </a:rPr>
            </a:br>
            <a:r>
              <a:rPr sz="1400" dirty="0">
                <a:solidFill>
                  <a:schemeClr val="bg1"/>
                </a:solidFill>
              </a:rPr>
              <a:t>• Ephemeral Memory Hygiene:</a:t>
            </a:r>
            <a:br>
              <a:rPr sz="1400" dirty="0">
                <a:solidFill>
                  <a:schemeClr val="bg1"/>
                </a:solidFill>
              </a:rPr>
            </a:br>
            <a:r>
              <a:rPr sz="1400" dirty="0">
                <a:solidFill>
                  <a:schemeClr val="bg1"/>
                </a:solidFill>
              </a:rPr>
              <a:t>  Transient buffers are sanitized and shredded immediately post-processing.</a:t>
            </a:r>
            <a:br>
              <a:rPr sz="1400" dirty="0">
                <a:solidFill>
                  <a:schemeClr val="bg1"/>
                </a:solidFill>
              </a:rPr>
            </a:br>
            <a:br>
              <a:rPr sz="1400" dirty="0">
                <a:solidFill>
                  <a:schemeClr val="bg1"/>
                </a:solidFill>
              </a:rPr>
            </a:br>
            <a:r>
              <a:rPr sz="1400" dirty="0">
                <a:solidFill>
                  <a:schemeClr val="bg1"/>
                </a:solidFill>
              </a:rPr>
              <a:t>• Cryptographic Immutability:</a:t>
            </a:r>
            <a:br>
              <a:rPr sz="1400" dirty="0">
                <a:solidFill>
                  <a:schemeClr val="bg1"/>
                </a:solidFill>
              </a:rPr>
            </a:br>
            <a:r>
              <a:rPr sz="1400" dirty="0">
                <a:solidFill>
                  <a:schemeClr val="bg1"/>
                </a:solidFill>
              </a:rPr>
              <a:t>  Input &amp; output SHA-256 hashes guarantee non-repudiation during internal audit.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03 Extraction Logic: High-Fidelity Multi-Format Parsing</a:t>
            </a:r>
          </a:p>
        </p:txBody>
      </p:sp>
      <p:graphicFrame>
        <p:nvGraphicFramePr>
          <p:cNvPr id="4" name="Table 3"/>
          <p:cNvGraphicFramePr>
            <a:graphicFrameLocks noGrp="1"/>
          </p:cNvGraphicFramePr>
          <p:nvPr>
            <p:extLst>
              <p:ext uri="{D42A27DB-BD31-4B8C-83A1-F6EECF244321}">
                <p14:modId xmlns:p14="http://schemas.microsoft.com/office/powerpoint/2010/main" val="2997135772"/>
              </p:ext>
            </p:extLst>
          </p:nvPr>
        </p:nvGraphicFramePr>
        <p:xfrm>
          <a:off x="731520" y="1371600"/>
          <a:ext cx="10725912" cy="48463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807720">
                <a:tc>
                  <a:txBody>
                    <a:bodyPr/>
                    <a:lstStyle/>
                    <a:p>
                      <a:pPr>
                        <a:defRPr sz="1100" b="1">
                          <a:solidFill>
                            <a:srgbClr val="00D2FF"/>
                          </a:solidFill>
                        </a:defRPr>
                      </a:pPr>
                      <a:r>
                        <a:rPr dirty="0">
                          <a:solidFill>
                            <a:schemeClr val="bg1"/>
                          </a:solidFill>
                        </a:rPr>
                        <a:t>Artifact Format</a:t>
                      </a:r>
                    </a:p>
                  </a:txBody>
                  <a:tcPr>
                    <a:solidFill>
                      <a:srgbClr val="112240"/>
                    </a:solidFill>
                  </a:tcPr>
                </a:tc>
                <a:tc>
                  <a:txBody>
                    <a:bodyPr/>
                    <a:lstStyle/>
                    <a:p>
                      <a:pPr>
                        <a:defRPr sz="1100" b="1">
                          <a:solidFill>
                            <a:srgbClr val="00D2FF"/>
                          </a:solidFill>
                        </a:defRPr>
                      </a:pPr>
                      <a:r>
                        <a:rPr dirty="0">
                          <a:solidFill>
                            <a:schemeClr val="bg1"/>
                          </a:solidFill>
                        </a:rPr>
                        <a:t>Extraction Technical Engine</a:t>
                      </a:r>
                    </a:p>
                  </a:txBody>
                  <a:tcPr>
                    <a:solidFill>
                      <a:srgbClr val="112240"/>
                    </a:solidFill>
                  </a:tcPr>
                </a:tc>
                <a:tc>
                  <a:txBody>
                    <a:bodyPr/>
                    <a:lstStyle/>
                    <a:p>
                      <a:pPr>
                        <a:defRPr sz="1100" b="1">
                          <a:solidFill>
                            <a:srgbClr val="00D2FF"/>
                          </a:solidFill>
                        </a:defRPr>
                      </a:pPr>
                      <a:r>
                        <a:rPr dirty="0">
                          <a:solidFill>
                            <a:schemeClr val="bg1"/>
                          </a:solidFill>
                        </a:rPr>
                        <a:t>Structure &amp; Context Retention Strategy</a:t>
                      </a:r>
                    </a:p>
                  </a:txBody>
                  <a:tcPr>
                    <a:solidFill>
                      <a:srgbClr val="112240"/>
                    </a:solidFill>
                  </a:tcPr>
                </a:tc>
                <a:tc>
                  <a:txBody>
                    <a:bodyPr/>
                    <a:lstStyle/>
                    <a:p>
                      <a:pPr>
                        <a:defRPr sz="1100" b="1">
                          <a:solidFill>
                            <a:srgbClr val="00D2FF"/>
                          </a:solidFill>
                        </a:defRPr>
                      </a:pPr>
                      <a:r>
                        <a:rPr dirty="0">
                          <a:solidFill>
                            <a:schemeClr val="bg1"/>
                          </a:solidFill>
                        </a:rPr>
                        <a:t>PII Exposure Vectors</a:t>
                      </a:r>
                    </a:p>
                  </a:txBody>
                  <a:tcPr>
                    <a:solidFill>
                      <a:srgbClr val="112240"/>
                    </a:solidFill>
                  </a:tcPr>
                </a:tc>
                <a:extLst>
                  <a:ext uri="{0D108BD9-81ED-4DB2-BD59-A6C34878D82A}">
                    <a16:rowId xmlns:a16="http://schemas.microsoft.com/office/drawing/2014/main" val="10000"/>
                  </a:ext>
                </a:extLst>
              </a:tr>
              <a:tr h="807720">
                <a:tc>
                  <a:txBody>
                    <a:bodyPr/>
                    <a:lstStyle/>
                    <a:p>
                      <a:pPr>
                        <a:defRPr sz="950">
                          <a:solidFill>
                            <a:srgbClr val="FFFFFF"/>
                          </a:solidFill>
                        </a:defRPr>
                      </a:pPr>
                      <a:r>
                        <a:t>PDF (Policy Docs &amp; Scans)</a:t>
                      </a:r>
                    </a:p>
                  </a:txBody>
                  <a:tcPr>
                    <a:solidFill>
                      <a:srgbClr val="0A192F"/>
                    </a:solidFill>
                  </a:tcPr>
                </a:tc>
                <a:tc>
                  <a:txBody>
                    <a:bodyPr/>
                    <a:lstStyle/>
                    <a:p>
                      <a:pPr>
                        <a:defRPr sz="950">
                          <a:solidFill>
                            <a:srgbClr val="FFFFFF"/>
                          </a:solidFill>
                        </a:defRPr>
                      </a:pPr>
                      <a:r>
                        <a:t>PyMuPDF (fitz) Spatial Block + Optical OCR fallback</a:t>
                      </a:r>
                    </a:p>
                  </a:txBody>
                  <a:tcPr>
                    <a:solidFill>
                      <a:srgbClr val="0A192F"/>
                    </a:solidFill>
                  </a:tcPr>
                </a:tc>
                <a:tc>
                  <a:txBody>
                    <a:bodyPr/>
                    <a:lstStyle/>
                    <a:p>
                      <a:pPr>
                        <a:defRPr sz="950">
                          <a:solidFill>
                            <a:srgbClr val="FFFFFF"/>
                          </a:solidFill>
                        </a:defRPr>
                      </a:pPr>
                      <a:r>
                        <a:t>Preserves page bounds, section headers, font weight hierarchy, paragraph indentation</a:t>
                      </a:r>
                    </a:p>
                  </a:txBody>
                  <a:tcPr>
                    <a:solidFill>
                      <a:srgbClr val="0A192F"/>
                    </a:solidFill>
                  </a:tcPr>
                </a:tc>
                <a:tc>
                  <a:txBody>
                    <a:bodyPr/>
                    <a:lstStyle/>
                    <a:p>
                      <a:pPr>
                        <a:defRPr sz="950">
                          <a:solidFill>
                            <a:srgbClr val="FFFFFF"/>
                          </a:solidFill>
                        </a:defRPr>
                      </a:pPr>
                      <a:r>
                        <a:t>Employee names, SSNs, base salaries, background check records</a:t>
                      </a:r>
                    </a:p>
                  </a:txBody>
                  <a:tcPr>
                    <a:solidFill>
                      <a:srgbClr val="0A192F"/>
                    </a:solidFill>
                  </a:tcPr>
                </a:tc>
                <a:extLst>
                  <a:ext uri="{0D108BD9-81ED-4DB2-BD59-A6C34878D82A}">
                    <a16:rowId xmlns:a16="http://schemas.microsoft.com/office/drawing/2014/main" val="10001"/>
                  </a:ext>
                </a:extLst>
              </a:tr>
              <a:tr h="807720">
                <a:tc>
                  <a:txBody>
                    <a:bodyPr/>
                    <a:lstStyle/>
                    <a:p>
                      <a:pPr>
                        <a:defRPr sz="950">
                          <a:solidFill>
                            <a:srgbClr val="FFFFFF"/>
                          </a:solidFill>
                        </a:defRPr>
                      </a:pPr>
                      <a:r>
                        <a:t>PPTX (Executive Decks)</a:t>
                      </a:r>
                    </a:p>
                  </a:txBody>
                  <a:tcPr>
                    <a:solidFill>
                      <a:srgbClr val="0A192F"/>
                    </a:solidFill>
                  </a:tcPr>
                </a:tc>
                <a:tc>
                  <a:txBody>
                    <a:bodyPr/>
                    <a:lstStyle/>
                    <a:p>
                      <a:pPr>
                        <a:defRPr sz="950">
                          <a:solidFill>
                            <a:srgbClr val="FFFFFF"/>
                          </a:solidFill>
                        </a:defRPr>
                      </a:pPr>
                      <a:r>
                        <a:t>python-pptx Shape &amp; Table Traversal + Notes Slide Parser</a:t>
                      </a:r>
                    </a:p>
                  </a:txBody>
                  <a:tcPr>
                    <a:solidFill>
                      <a:srgbClr val="0A192F"/>
                    </a:solidFill>
                  </a:tcPr>
                </a:tc>
                <a:tc>
                  <a:txBody>
                    <a:bodyPr/>
                    <a:lstStyle/>
                    <a:p>
                      <a:pPr>
                        <a:defRPr sz="950">
                          <a:solidFill>
                            <a:srgbClr val="FFFFFF"/>
                          </a:solidFill>
                        </a:defRPr>
                      </a:pPr>
                      <a:r>
                        <a:t>Extracts spatial textboxes, Markdown table conversion, extracts hidden speaker notes</a:t>
                      </a:r>
                    </a:p>
                  </a:txBody>
                  <a:tcPr>
                    <a:solidFill>
                      <a:srgbClr val="0A192F"/>
                    </a:solidFill>
                  </a:tcPr>
                </a:tc>
                <a:tc>
                  <a:txBody>
                    <a:bodyPr/>
                    <a:lstStyle/>
                    <a:p>
                      <a:pPr>
                        <a:defRPr sz="950">
                          <a:solidFill>
                            <a:srgbClr val="FFFFFF"/>
                          </a:solidFill>
                        </a:defRPr>
                      </a:pPr>
                      <a:r>
                        <a:t>Staff rosters, executive emails, employee IDs, direct cell numbers</a:t>
                      </a:r>
                    </a:p>
                  </a:txBody>
                  <a:tcPr>
                    <a:solidFill>
                      <a:srgbClr val="0A192F"/>
                    </a:solidFill>
                  </a:tcPr>
                </a:tc>
                <a:extLst>
                  <a:ext uri="{0D108BD9-81ED-4DB2-BD59-A6C34878D82A}">
                    <a16:rowId xmlns:a16="http://schemas.microsoft.com/office/drawing/2014/main" val="10002"/>
                  </a:ext>
                </a:extLst>
              </a:tr>
              <a:tr h="807720">
                <a:tc>
                  <a:txBody>
                    <a:bodyPr/>
                    <a:lstStyle/>
                    <a:p>
                      <a:pPr>
                        <a:defRPr sz="950">
                          <a:solidFill>
                            <a:srgbClr val="FFFFFF"/>
                          </a:solidFill>
                        </a:defRPr>
                      </a:pPr>
                      <a:r>
                        <a:t>DOCX (Process Documents)</a:t>
                      </a:r>
                    </a:p>
                  </a:txBody>
                  <a:tcPr>
                    <a:solidFill>
                      <a:srgbClr val="0A192F"/>
                    </a:solidFill>
                  </a:tcPr>
                </a:tc>
                <a:tc>
                  <a:txBody>
                    <a:bodyPr/>
                    <a:lstStyle/>
                    <a:p>
                      <a:pPr>
                        <a:defRPr sz="950">
                          <a:solidFill>
                            <a:srgbClr val="FFFFFF"/>
                          </a:solidFill>
                        </a:defRPr>
                      </a:pPr>
                      <a:r>
                        <a:t>python-docx Paragraph Style &amp; Grid Table Engine</a:t>
                      </a:r>
                    </a:p>
                  </a:txBody>
                  <a:tcPr>
                    <a:solidFill>
                      <a:srgbClr val="0A192F"/>
                    </a:solidFill>
                  </a:tcPr>
                </a:tc>
                <a:tc>
                  <a:txBody>
                    <a:bodyPr/>
                    <a:lstStyle/>
                    <a:p>
                      <a:pPr>
                        <a:defRPr sz="950">
                          <a:solidFill>
                            <a:srgbClr val="FFFFFF"/>
                          </a:solidFill>
                        </a:defRPr>
                      </a:pPr>
                      <a:r>
                        <a:t>Converts Heading 1-3 to Markdown (#), bullet lists, and tables to formatted ASCII pipes</a:t>
                      </a:r>
                    </a:p>
                  </a:txBody>
                  <a:tcPr>
                    <a:solidFill>
                      <a:srgbClr val="0A192F"/>
                    </a:solidFill>
                  </a:tcPr>
                </a:tc>
                <a:tc>
                  <a:txBody>
                    <a:bodyPr/>
                    <a:lstStyle/>
                    <a:p>
                      <a:pPr>
                        <a:defRPr sz="950">
                          <a:solidFill>
                            <a:srgbClr val="FFFFFF"/>
                          </a:solidFill>
                        </a:defRPr>
                      </a:pPr>
                      <a:r>
                        <a:t>Clearance levels, reviewer passports, driver licenses, IT escalation pager</a:t>
                      </a:r>
                    </a:p>
                  </a:txBody>
                  <a:tcPr>
                    <a:solidFill>
                      <a:srgbClr val="0A192F"/>
                    </a:solidFill>
                  </a:tcPr>
                </a:tc>
                <a:extLst>
                  <a:ext uri="{0D108BD9-81ED-4DB2-BD59-A6C34878D82A}">
                    <a16:rowId xmlns:a16="http://schemas.microsoft.com/office/drawing/2014/main" val="10003"/>
                  </a:ext>
                </a:extLst>
              </a:tr>
              <a:tr h="807720">
                <a:tc>
                  <a:txBody>
                    <a:bodyPr/>
                    <a:lstStyle/>
                    <a:p>
                      <a:pPr>
                        <a:defRPr sz="950">
                          <a:solidFill>
                            <a:srgbClr val="FFFFFF"/>
                          </a:solidFill>
                        </a:defRPr>
                      </a:pPr>
                      <a:r>
                        <a:t>XLSX (Payroll &amp; Registers)</a:t>
                      </a:r>
                    </a:p>
                  </a:txBody>
                  <a:tcPr>
                    <a:solidFill>
                      <a:srgbClr val="0A192F"/>
                    </a:solidFill>
                  </a:tcPr>
                </a:tc>
                <a:tc>
                  <a:txBody>
                    <a:bodyPr/>
                    <a:lstStyle/>
                    <a:p>
                      <a:pPr>
                        <a:defRPr sz="950">
                          <a:solidFill>
                            <a:srgbClr val="FFFFFF"/>
                          </a:solidFill>
                        </a:defRPr>
                      </a:pPr>
                      <a:r>
                        <a:t>openpyxl Data Iterator &amp; Column Header Mapper</a:t>
                      </a:r>
                    </a:p>
                  </a:txBody>
                  <a:tcPr>
                    <a:solidFill>
                      <a:srgbClr val="0A192F"/>
                    </a:solidFill>
                  </a:tcPr>
                </a:tc>
                <a:tc>
                  <a:txBody>
                    <a:bodyPr/>
                    <a:lstStyle/>
                    <a:p>
                      <a:pPr>
                        <a:defRPr sz="950">
                          <a:solidFill>
                            <a:srgbClr val="FFFFFF"/>
                          </a:solidFill>
                        </a:defRPr>
                      </a:pPr>
                      <a:r>
                        <a:t>Converts multi-sheet workbooks to Markdown data grids retaining column relationships</a:t>
                      </a:r>
                    </a:p>
                  </a:txBody>
                  <a:tcPr>
                    <a:solidFill>
                      <a:srgbClr val="0A192F"/>
                    </a:solidFill>
                  </a:tcPr>
                </a:tc>
                <a:tc>
                  <a:txBody>
                    <a:bodyPr/>
                    <a:lstStyle/>
                    <a:p>
                      <a:pPr>
                        <a:defRPr sz="950">
                          <a:solidFill>
                            <a:srgbClr val="FFFFFF"/>
                          </a:solidFill>
                        </a:defRPr>
                      </a:pPr>
                      <a:r>
                        <a:t>Bank routing numbers, account numbers, contractor tax IDs, compensation</a:t>
                      </a:r>
                    </a:p>
                  </a:txBody>
                  <a:tcPr>
                    <a:solidFill>
                      <a:srgbClr val="0A192F"/>
                    </a:solidFill>
                  </a:tcPr>
                </a:tc>
                <a:extLst>
                  <a:ext uri="{0D108BD9-81ED-4DB2-BD59-A6C34878D82A}">
                    <a16:rowId xmlns:a16="http://schemas.microsoft.com/office/drawing/2014/main" val="10004"/>
                  </a:ext>
                </a:extLst>
              </a:tr>
              <a:tr h="807720">
                <a:tc>
                  <a:txBody>
                    <a:bodyPr/>
                    <a:lstStyle/>
                    <a:p>
                      <a:pPr>
                        <a:defRPr sz="950">
                          <a:solidFill>
                            <a:srgbClr val="FFFFFF"/>
                          </a:solidFill>
                        </a:defRPr>
                      </a:pPr>
                      <a:r>
                        <a:t>TXT / LOGS (Cloud Audits)</a:t>
                      </a:r>
                    </a:p>
                  </a:txBody>
                  <a:tcPr>
                    <a:solidFill>
                      <a:srgbClr val="0A192F"/>
                    </a:solidFill>
                  </a:tcPr>
                </a:tc>
                <a:tc>
                  <a:txBody>
                    <a:bodyPr/>
                    <a:lstStyle/>
                    <a:p>
                      <a:pPr>
                        <a:defRPr sz="950">
                          <a:solidFill>
                            <a:srgbClr val="FFFFFF"/>
                          </a:solidFill>
                        </a:defRPr>
                      </a:pPr>
                      <a:r>
                        <a:t>UTF-8 Stream Parser with Line Buffer Accounting</a:t>
                      </a:r>
                    </a:p>
                  </a:txBody>
                  <a:tcPr>
                    <a:solidFill>
                      <a:srgbClr val="0A192F"/>
                    </a:solidFill>
                  </a:tcPr>
                </a:tc>
                <a:tc>
                  <a:txBody>
                    <a:bodyPr/>
                    <a:lstStyle/>
                    <a:p>
                      <a:pPr>
                        <a:defRPr sz="950">
                          <a:solidFill>
                            <a:srgbClr val="FFFFFF"/>
                          </a:solidFill>
                        </a:defRPr>
                      </a:pPr>
                      <a:r>
                        <a:t>Preserves line breaks, timestamp delimiters, JSON brackets, and terminal whitespace</a:t>
                      </a:r>
                    </a:p>
                  </a:txBody>
                  <a:tcPr>
                    <a:solidFill>
                      <a:srgbClr val="0A192F"/>
                    </a:solidFill>
                  </a:tcPr>
                </a:tc>
                <a:tc>
                  <a:txBody>
                    <a:bodyPr/>
                    <a:lstStyle/>
                    <a:p>
                      <a:pPr>
                        <a:defRPr sz="950">
                          <a:solidFill>
                            <a:srgbClr val="FFFFFF"/>
                          </a:solidFill>
                        </a:defRPr>
                      </a:pPr>
                      <a:r>
                        <a:rPr dirty="0"/>
                        <a:t>AWS access keys, bearer tokens, client IP addresses, admin emails</a:t>
                      </a:r>
                    </a:p>
                  </a:txBody>
                  <a:tcPr>
                    <a:solidFill>
                      <a:srgbClr val="0A192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03 Detection Logic: 4-Tier Hybrid Precision Architecture</a:t>
            </a:r>
          </a:p>
        </p:txBody>
      </p:sp>
      <p:sp>
        <p:nvSpPr>
          <p:cNvPr id="4" name="Rounded Rectangle 3"/>
          <p:cNvSpPr/>
          <p:nvPr/>
        </p:nvSpPr>
        <p:spPr>
          <a:xfrm>
            <a:off x="731520" y="1463040"/>
            <a:ext cx="2487168"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72768"/>
            <a:ext cx="2267712" cy="4154984"/>
          </a:xfrm>
          <a:prstGeom prst="rect">
            <a:avLst/>
          </a:prstGeom>
          <a:noFill/>
        </p:spPr>
        <p:txBody>
          <a:bodyPr wrap="square">
            <a:spAutoFit/>
          </a:bodyPr>
          <a:lstStyle/>
          <a:p>
            <a:pPr>
              <a:defRPr sz="1100" b="1">
                <a:solidFill>
                  <a:srgbClr val="00D2FF"/>
                </a:solidFill>
              </a:defRPr>
            </a:pPr>
            <a:r>
              <a:rPr sz="1200" dirty="0">
                <a:solidFill>
                  <a:schemeClr val="bg1"/>
                </a:solidFill>
              </a:rPr>
              <a:t>TIER 1: DETERMINISTIC &amp; CHECKSUMS</a:t>
            </a:r>
          </a:p>
          <a:p>
            <a:br>
              <a:rPr sz="1200" dirty="0">
                <a:solidFill>
                  <a:schemeClr val="bg1"/>
                </a:solidFill>
              </a:rPr>
            </a:br>
            <a:r>
              <a:rPr sz="1200" dirty="0">
                <a:solidFill>
                  <a:schemeClr val="bg1"/>
                </a:solidFill>
              </a:rPr>
              <a:t>▸ Cadence Employee ID</a:t>
            </a:r>
          </a:p>
          <a:p>
            <a:pPr>
              <a:defRPr sz="850">
                <a:solidFill>
                  <a:srgbClr val="94A3B8"/>
                </a:solidFill>
              </a:defRPr>
            </a:pPr>
            <a:r>
              <a:rPr sz="1200" dirty="0">
                <a:solidFill>
                  <a:schemeClr val="bg1"/>
                </a:solidFill>
              </a:rPr>
              <a:t>Regex: CAD-EMP-\d{5,6} matching internal staff standard.</a:t>
            </a:r>
          </a:p>
          <a:p>
            <a:br>
              <a:rPr sz="1200" dirty="0">
                <a:solidFill>
                  <a:schemeClr val="bg1"/>
                </a:solidFill>
              </a:rPr>
            </a:br>
            <a:r>
              <a:rPr sz="1200" dirty="0">
                <a:solidFill>
                  <a:schemeClr val="bg1"/>
                </a:solidFill>
              </a:rPr>
              <a:t>▸ Social Security (SSN)</a:t>
            </a:r>
          </a:p>
          <a:p>
            <a:pPr>
              <a:defRPr sz="850">
                <a:solidFill>
                  <a:srgbClr val="94A3B8"/>
                </a:solidFill>
              </a:defRPr>
            </a:pPr>
            <a:r>
              <a:rPr sz="1200" dirty="0">
                <a:solidFill>
                  <a:schemeClr val="bg1"/>
                </a:solidFill>
              </a:rPr>
              <a:t>SSA rule validator: excludes 000, 666, 900+ series.</a:t>
            </a:r>
          </a:p>
          <a:p>
            <a:br>
              <a:rPr sz="1200" dirty="0">
                <a:solidFill>
                  <a:schemeClr val="bg1"/>
                </a:solidFill>
              </a:rPr>
            </a:br>
            <a:r>
              <a:rPr sz="1200" dirty="0">
                <a:solidFill>
                  <a:schemeClr val="bg1"/>
                </a:solidFill>
              </a:rPr>
              <a:t>▸ Credit Cards (Luhn)</a:t>
            </a:r>
          </a:p>
          <a:p>
            <a:pPr>
              <a:defRPr sz="850">
                <a:solidFill>
                  <a:srgbClr val="94A3B8"/>
                </a:solidFill>
              </a:defRPr>
            </a:pPr>
            <a:r>
              <a:rPr sz="1200" dirty="0">
                <a:solidFill>
                  <a:schemeClr val="bg1"/>
                </a:solidFill>
              </a:rPr>
              <a:t>Mod-10 checksum validation on Visa, MC, Amex, Discover.</a:t>
            </a:r>
          </a:p>
          <a:p>
            <a:br>
              <a:rPr sz="1200" dirty="0">
                <a:solidFill>
                  <a:schemeClr val="bg1"/>
                </a:solidFill>
              </a:rPr>
            </a:br>
            <a:r>
              <a:rPr sz="1200" dirty="0">
                <a:solidFill>
                  <a:schemeClr val="bg1"/>
                </a:solidFill>
              </a:rPr>
              <a:t>▸ ABA Bank Routing</a:t>
            </a:r>
          </a:p>
          <a:p>
            <a:pPr>
              <a:defRPr sz="850">
                <a:solidFill>
                  <a:srgbClr val="94A3B8"/>
                </a:solidFill>
              </a:defRPr>
            </a:pPr>
            <a:r>
              <a:rPr sz="1200" dirty="0">
                <a:solidFill>
                  <a:schemeClr val="bg1"/>
                </a:solidFill>
              </a:rPr>
              <a:t>Fedwire 9-digit checksum formula: (3d+7d+d)%10==0.</a:t>
            </a:r>
          </a:p>
          <a:p>
            <a:br>
              <a:rPr sz="1200" dirty="0">
                <a:solidFill>
                  <a:schemeClr val="bg1"/>
                </a:solidFill>
              </a:rPr>
            </a:br>
            <a:r>
              <a:rPr sz="1200" dirty="0">
                <a:solidFill>
                  <a:schemeClr val="bg1"/>
                </a:solidFill>
              </a:rPr>
              <a:t>▸ Technical Secrets</a:t>
            </a:r>
          </a:p>
          <a:p>
            <a:pPr>
              <a:defRPr sz="850">
                <a:solidFill>
                  <a:srgbClr val="94A3B8"/>
                </a:solidFill>
              </a:defRPr>
            </a:pPr>
            <a:r>
              <a:rPr sz="1200" dirty="0">
                <a:solidFill>
                  <a:schemeClr val="bg1"/>
                </a:solidFill>
              </a:rPr>
              <a:t>AWS Key ID (AKIA...), JWT Bearer tokens, IPv4.</a:t>
            </a:r>
          </a:p>
        </p:txBody>
      </p:sp>
      <p:sp>
        <p:nvSpPr>
          <p:cNvPr id="6" name="Rounded Rectangle 5"/>
          <p:cNvSpPr/>
          <p:nvPr/>
        </p:nvSpPr>
        <p:spPr>
          <a:xfrm>
            <a:off x="3474720" y="1463040"/>
            <a:ext cx="2487168"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84448" y="1572768"/>
            <a:ext cx="2267712" cy="4154984"/>
          </a:xfrm>
          <a:prstGeom prst="rect">
            <a:avLst/>
          </a:prstGeom>
          <a:noFill/>
        </p:spPr>
        <p:txBody>
          <a:bodyPr wrap="square">
            <a:spAutoFit/>
          </a:bodyPr>
          <a:lstStyle/>
          <a:p>
            <a:pPr>
              <a:defRPr sz="1100" b="1">
                <a:solidFill>
                  <a:srgbClr val="F59E0B"/>
                </a:solidFill>
              </a:defRPr>
            </a:pPr>
            <a:r>
              <a:rPr sz="1200" dirty="0">
                <a:solidFill>
                  <a:schemeClr val="bg1"/>
                </a:solidFill>
              </a:rPr>
              <a:t>TIER 2: MACHINE LEARNING &amp; NLP</a:t>
            </a:r>
          </a:p>
          <a:p>
            <a:br>
              <a:rPr sz="1200" dirty="0">
                <a:solidFill>
                  <a:schemeClr val="bg1"/>
                </a:solidFill>
              </a:rPr>
            </a:br>
            <a:r>
              <a:rPr sz="1200" dirty="0">
                <a:solidFill>
                  <a:schemeClr val="bg1"/>
                </a:solidFill>
              </a:rPr>
              <a:t>▸ Microsoft Presidio</a:t>
            </a:r>
          </a:p>
          <a:p>
            <a:pPr>
              <a:defRPr sz="850">
                <a:solidFill>
                  <a:srgbClr val="94A3B8"/>
                </a:solidFill>
              </a:defRPr>
            </a:pPr>
            <a:r>
              <a:rPr sz="1200" dirty="0">
                <a:solidFill>
                  <a:schemeClr val="bg1"/>
                </a:solidFill>
              </a:rPr>
              <a:t>Enterprise entity recognition orchestration layer.</a:t>
            </a:r>
          </a:p>
          <a:p>
            <a:br>
              <a:rPr sz="1200" dirty="0">
                <a:solidFill>
                  <a:schemeClr val="bg1"/>
                </a:solidFill>
              </a:rPr>
            </a:br>
            <a:r>
              <a:rPr sz="1200" dirty="0">
                <a:solidFill>
                  <a:schemeClr val="bg1"/>
                </a:solidFill>
              </a:rPr>
              <a:t>▸ </a:t>
            </a:r>
            <a:r>
              <a:rPr sz="1200" dirty="0" err="1">
                <a:solidFill>
                  <a:schemeClr val="bg1"/>
                </a:solidFill>
              </a:rPr>
              <a:t>SpaCy</a:t>
            </a:r>
            <a:r>
              <a:rPr sz="1200" dirty="0">
                <a:solidFill>
                  <a:schemeClr val="bg1"/>
                </a:solidFill>
              </a:rPr>
              <a:t> </a:t>
            </a:r>
            <a:r>
              <a:rPr sz="1200" dirty="0" err="1">
                <a:solidFill>
                  <a:schemeClr val="bg1"/>
                </a:solidFill>
              </a:rPr>
              <a:t>en_core_web_lg</a:t>
            </a:r>
            <a:endParaRPr sz="1200" dirty="0">
              <a:solidFill>
                <a:schemeClr val="bg1"/>
              </a:solidFill>
            </a:endParaRPr>
          </a:p>
          <a:p>
            <a:pPr>
              <a:defRPr sz="850">
                <a:solidFill>
                  <a:srgbClr val="94A3B8"/>
                </a:solidFill>
              </a:defRPr>
            </a:pPr>
            <a:r>
              <a:rPr sz="1200" dirty="0">
                <a:solidFill>
                  <a:schemeClr val="bg1"/>
                </a:solidFill>
              </a:rPr>
              <a:t>Large transformer-scale statistical language model.</a:t>
            </a:r>
          </a:p>
          <a:p>
            <a:br>
              <a:rPr sz="1200" dirty="0">
                <a:solidFill>
                  <a:schemeClr val="bg1"/>
                </a:solidFill>
              </a:rPr>
            </a:br>
            <a:r>
              <a:rPr sz="1200" dirty="0">
                <a:solidFill>
                  <a:schemeClr val="bg1"/>
                </a:solidFill>
              </a:rPr>
              <a:t>▸ Named Entity Scope</a:t>
            </a:r>
          </a:p>
          <a:p>
            <a:pPr>
              <a:defRPr sz="850">
                <a:solidFill>
                  <a:srgbClr val="94A3B8"/>
                </a:solidFill>
              </a:defRPr>
            </a:pPr>
            <a:r>
              <a:rPr sz="1200" dirty="0">
                <a:solidFill>
                  <a:schemeClr val="bg1"/>
                </a:solidFill>
              </a:rPr>
              <a:t>Extracts PERSON, LOCATION, EMAIL, PHONE.</a:t>
            </a:r>
          </a:p>
          <a:p>
            <a:br>
              <a:rPr sz="1200" dirty="0">
                <a:solidFill>
                  <a:schemeClr val="bg1"/>
                </a:solidFill>
              </a:rPr>
            </a:br>
            <a:r>
              <a:rPr sz="1200" dirty="0">
                <a:solidFill>
                  <a:schemeClr val="bg1"/>
                </a:solidFill>
              </a:rPr>
              <a:t>▸ False Positive Filter</a:t>
            </a:r>
          </a:p>
          <a:p>
            <a:pPr>
              <a:defRPr sz="850">
                <a:solidFill>
                  <a:srgbClr val="94A3B8"/>
                </a:solidFill>
              </a:defRPr>
            </a:pPr>
            <a:r>
              <a:rPr sz="1200" dirty="0">
                <a:solidFill>
                  <a:schemeClr val="bg1"/>
                </a:solidFill>
              </a:rPr>
              <a:t>Suppresses 40+ domain keywords (e.g. 'Email', 'Q3').</a:t>
            </a:r>
          </a:p>
          <a:p>
            <a:br>
              <a:rPr sz="1200" dirty="0">
                <a:solidFill>
                  <a:schemeClr val="bg1"/>
                </a:solidFill>
              </a:rPr>
            </a:br>
            <a:r>
              <a:rPr sz="1200" dirty="0">
                <a:solidFill>
                  <a:schemeClr val="bg1"/>
                </a:solidFill>
              </a:rPr>
              <a:t>▸ High Precision Tuning</a:t>
            </a:r>
          </a:p>
          <a:p>
            <a:pPr>
              <a:defRPr sz="850">
                <a:solidFill>
                  <a:srgbClr val="94A3B8"/>
                </a:solidFill>
              </a:defRPr>
            </a:pPr>
            <a:r>
              <a:rPr sz="1200" dirty="0">
                <a:solidFill>
                  <a:schemeClr val="bg1"/>
                </a:solidFill>
              </a:rPr>
              <a:t>Score confidence thresholding &gt;= 0.85.</a:t>
            </a:r>
          </a:p>
        </p:txBody>
      </p:sp>
      <p:sp>
        <p:nvSpPr>
          <p:cNvPr id="8" name="Rounded Rectangle 7"/>
          <p:cNvSpPr/>
          <p:nvPr/>
        </p:nvSpPr>
        <p:spPr>
          <a:xfrm>
            <a:off x="6217920" y="1463040"/>
            <a:ext cx="2487168"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27648" y="1572768"/>
            <a:ext cx="2267712" cy="3600986"/>
          </a:xfrm>
          <a:prstGeom prst="rect">
            <a:avLst/>
          </a:prstGeom>
          <a:noFill/>
        </p:spPr>
        <p:txBody>
          <a:bodyPr wrap="square">
            <a:spAutoFit/>
          </a:bodyPr>
          <a:lstStyle/>
          <a:p>
            <a:pPr>
              <a:defRPr sz="1100" b="1">
                <a:solidFill>
                  <a:srgbClr val="10B981"/>
                </a:solidFill>
              </a:defRPr>
            </a:pPr>
            <a:r>
              <a:rPr sz="1200" dirty="0">
                <a:solidFill>
                  <a:schemeClr val="bg1"/>
                </a:solidFill>
              </a:rPr>
              <a:t>TIER 3: CONTEXT PROXIMITY BOOST</a:t>
            </a:r>
          </a:p>
          <a:p>
            <a:br>
              <a:rPr sz="1200" dirty="0">
                <a:solidFill>
                  <a:schemeClr val="bg1"/>
                </a:solidFill>
              </a:rPr>
            </a:br>
            <a:r>
              <a:rPr sz="1200" dirty="0">
                <a:solidFill>
                  <a:schemeClr val="bg1"/>
                </a:solidFill>
              </a:rPr>
              <a:t>▸ Proximity Window</a:t>
            </a:r>
          </a:p>
          <a:p>
            <a:pPr>
              <a:defRPr sz="850">
                <a:solidFill>
                  <a:srgbClr val="94A3B8"/>
                </a:solidFill>
              </a:defRPr>
            </a:pPr>
            <a:r>
              <a:rPr sz="1200" dirty="0">
                <a:solidFill>
                  <a:schemeClr val="bg1"/>
                </a:solidFill>
              </a:rPr>
              <a:t>Inspects +/- 45 characters preceding &amp; succeeding candidate.</a:t>
            </a:r>
          </a:p>
          <a:p>
            <a:br>
              <a:rPr sz="1200" dirty="0">
                <a:solidFill>
                  <a:schemeClr val="bg1"/>
                </a:solidFill>
              </a:rPr>
            </a:br>
            <a:r>
              <a:rPr sz="1200" dirty="0">
                <a:solidFill>
                  <a:schemeClr val="bg1"/>
                </a:solidFill>
              </a:rPr>
              <a:t>▸ Trigger Keywords</a:t>
            </a:r>
          </a:p>
          <a:p>
            <a:pPr>
              <a:defRPr sz="850">
                <a:solidFill>
                  <a:srgbClr val="94A3B8"/>
                </a:solidFill>
              </a:defRPr>
            </a:pPr>
            <a:r>
              <a:rPr sz="1200" dirty="0">
                <a:solidFill>
                  <a:schemeClr val="bg1"/>
                </a:solidFill>
              </a:rPr>
              <a:t>Matches 'Employee:', 'SSN:', 'Cardholder:', 'Routing:', etc.</a:t>
            </a:r>
          </a:p>
          <a:p>
            <a:br>
              <a:rPr sz="1200" dirty="0">
                <a:solidFill>
                  <a:schemeClr val="bg1"/>
                </a:solidFill>
              </a:rPr>
            </a:br>
            <a:r>
              <a:rPr sz="1200" dirty="0">
                <a:solidFill>
                  <a:schemeClr val="bg1"/>
                </a:solidFill>
              </a:rPr>
              <a:t>▸ Confidence Boost</a:t>
            </a:r>
          </a:p>
          <a:p>
            <a:pPr>
              <a:defRPr sz="850">
                <a:solidFill>
                  <a:srgbClr val="94A3B8"/>
                </a:solidFill>
              </a:defRPr>
            </a:pPr>
            <a:r>
              <a:rPr sz="1200" dirty="0">
                <a:solidFill>
                  <a:schemeClr val="bg1"/>
                </a:solidFill>
              </a:rPr>
              <a:t>Increases score by +0.15 up to 0.99 for validated context.</a:t>
            </a:r>
          </a:p>
          <a:p>
            <a:br>
              <a:rPr sz="1200" dirty="0">
                <a:solidFill>
                  <a:schemeClr val="bg1"/>
                </a:solidFill>
              </a:rPr>
            </a:br>
            <a:r>
              <a:rPr sz="1200" dirty="0">
                <a:solidFill>
                  <a:schemeClr val="bg1"/>
                </a:solidFill>
              </a:rPr>
              <a:t>▸ Disambiguation</a:t>
            </a:r>
          </a:p>
          <a:p>
            <a:pPr>
              <a:defRPr sz="850">
                <a:solidFill>
                  <a:srgbClr val="94A3B8"/>
                </a:solidFill>
              </a:defRPr>
            </a:pPr>
            <a:r>
              <a:rPr sz="1200" dirty="0">
                <a:solidFill>
                  <a:schemeClr val="bg1"/>
                </a:solidFill>
              </a:rPr>
              <a:t>Resolves ambiguous names or numbers into precise PII types.</a:t>
            </a:r>
          </a:p>
        </p:txBody>
      </p:sp>
      <p:sp>
        <p:nvSpPr>
          <p:cNvPr id="10" name="Rounded Rectangle 9"/>
          <p:cNvSpPr/>
          <p:nvPr/>
        </p:nvSpPr>
        <p:spPr>
          <a:xfrm>
            <a:off x="8961120" y="1463040"/>
            <a:ext cx="2487168"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70848" y="1572768"/>
            <a:ext cx="2267712" cy="3416320"/>
          </a:xfrm>
          <a:prstGeom prst="rect">
            <a:avLst/>
          </a:prstGeom>
          <a:noFill/>
        </p:spPr>
        <p:txBody>
          <a:bodyPr wrap="square">
            <a:spAutoFit/>
          </a:bodyPr>
          <a:lstStyle/>
          <a:p>
            <a:pPr>
              <a:defRPr sz="1100" b="1">
                <a:solidFill>
                  <a:srgbClr val="00D2FF"/>
                </a:solidFill>
              </a:defRPr>
            </a:pPr>
            <a:r>
              <a:rPr sz="1200" dirty="0">
                <a:solidFill>
                  <a:schemeClr val="bg1"/>
                </a:solidFill>
              </a:rPr>
              <a:t>TIER 4: RESIDUAL SAFETY GUARDRAIL</a:t>
            </a:r>
          </a:p>
          <a:p>
            <a:br>
              <a:rPr sz="1200" dirty="0">
                <a:solidFill>
                  <a:schemeClr val="bg1"/>
                </a:solidFill>
              </a:rPr>
            </a:br>
            <a:r>
              <a:rPr sz="1200" dirty="0">
                <a:solidFill>
                  <a:schemeClr val="bg1"/>
                </a:solidFill>
              </a:rPr>
              <a:t>▸ Secondary Sweep</a:t>
            </a:r>
          </a:p>
          <a:p>
            <a:pPr>
              <a:defRPr sz="850">
                <a:solidFill>
                  <a:srgbClr val="94A3B8"/>
                </a:solidFill>
              </a:defRPr>
            </a:pPr>
            <a:r>
              <a:rPr sz="1200" dirty="0">
                <a:solidFill>
                  <a:schemeClr val="bg1"/>
                </a:solidFill>
              </a:rPr>
              <a:t>Scans text post-redaction for any residual patterns.</a:t>
            </a:r>
          </a:p>
          <a:p>
            <a:br>
              <a:rPr sz="1200" dirty="0">
                <a:solidFill>
                  <a:schemeClr val="bg1"/>
                </a:solidFill>
              </a:rPr>
            </a:br>
            <a:r>
              <a:rPr sz="1200" dirty="0">
                <a:solidFill>
                  <a:schemeClr val="bg1"/>
                </a:solidFill>
              </a:rPr>
              <a:t>▸ Coreference Propagation</a:t>
            </a:r>
          </a:p>
          <a:p>
            <a:pPr>
              <a:defRPr sz="850">
                <a:solidFill>
                  <a:srgbClr val="94A3B8"/>
                </a:solidFill>
              </a:defRPr>
            </a:pPr>
            <a:r>
              <a:rPr sz="1200" dirty="0">
                <a:solidFill>
                  <a:schemeClr val="bg1"/>
                </a:solidFill>
              </a:rPr>
              <a:t>Ensures all instances of an identified entity are replaced.</a:t>
            </a:r>
          </a:p>
          <a:p>
            <a:br>
              <a:rPr sz="1200" dirty="0">
                <a:solidFill>
                  <a:schemeClr val="bg1"/>
                </a:solidFill>
              </a:rPr>
            </a:br>
            <a:r>
              <a:rPr sz="1200" dirty="0">
                <a:solidFill>
                  <a:schemeClr val="bg1"/>
                </a:solidFill>
              </a:rPr>
              <a:t>▸ Residual Leakage Test</a:t>
            </a:r>
          </a:p>
          <a:p>
            <a:pPr>
              <a:defRPr sz="850">
                <a:solidFill>
                  <a:srgbClr val="94A3B8"/>
                </a:solidFill>
              </a:defRPr>
            </a:pPr>
            <a:r>
              <a:rPr sz="1200" dirty="0">
                <a:solidFill>
                  <a:schemeClr val="bg1"/>
                </a:solidFill>
              </a:rPr>
              <a:t>Word-boundary regex verification guaranteeing 0.00% leakage.</a:t>
            </a:r>
          </a:p>
          <a:p>
            <a:br>
              <a:rPr sz="1200" dirty="0">
                <a:solidFill>
                  <a:schemeClr val="bg1"/>
                </a:solidFill>
              </a:rPr>
            </a:br>
            <a:r>
              <a:rPr sz="1200" dirty="0">
                <a:solidFill>
                  <a:schemeClr val="bg1"/>
                </a:solidFill>
              </a:rPr>
              <a:t>▸ Zero-PII Certification</a:t>
            </a:r>
          </a:p>
          <a:p>
            <a:pPr>
              <a:defRPr sz="850">
                <a:solidFill>
                  <a:srgbClr val="94A3B8"/>
                </a:solidFill>
              </a:defRPr>
            </a:pPr>
            <a:r>
              <a:rPr sz="1200" dirty="0">
                <a:solidFill>
                  <a:schemeClr val="bg1"/>
                </a:solidFill>
              </a:rPr>
              <a:t>Blocks document export if any sensitive token persists.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2"/>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04 Reliable Outcomes: Structure Retention &amp; Accuracy Benchmarks</a:t>
            </a:r>
          </a:p>
        </p:txBody>
      </p:sp>
      <p:sp>
        <p:nvSpPr>
          <p:cNvPr id="4" name="Rounded Rectangle 3"/>
          <p:cNvSpPr/>
          <p:nvPr/>
        </p:nvSpPr>
        <p:spPr>
          <a:xfrm>
            <a:off x="731520" y="1371600"/>
            <a:ext cx="2487168" cy="12801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17320"/>
            <a:ext cx="2304288" cy="700192"/>
          </a:xfrm>
          <a:prstGeom prst="rect">
            <a:avLst/>
          </a:prstGeom>
          <a:noFill/>
        </p:spPr>
        <p:txBody>
          <a:bodyPr wrap="square">
            <a:spAutoFit/>
          </a:bodyPr>
          <a:lstStyle/>
          <a:p>
            <a:pPr>
              <a:defRPr sz="900" b="1">
                <a:solidFill>
                  <a:srgbClr val="94A3B8"/>
                </a:solidFill>
              </a:defRPr>
            </a:pPr>
            <a:r>
              <a:rPr dirty="0"/>
              <a:t>STRUCTURE RETENTION</a:t>
            </a:r>
          </a:p>
          <a:p>
            <a:pPr>
              <a:defRPr sz="2200" b="1">
                <a:solidFill>
                  <a:srgbClr val="10B981"/>
                </a:solidFill>
              </a:defRPr>
            </a:pPr>
            <a:r>
              <a:rPr dirty="0">
                <a:solidFill>
                  <a:schemeClr val="bg1"/>
                </a:solidFill>
              </a:rPr>
              <a:t>98.7% - 99.5%</a:t>
            </a:r>
          </a:p>
          <a:p>
            <a:pPr>
              <a:defRPr sz="850">
                <a:solidFill>
                  <a:srgbClr val="FFFFFF"/>
                </a:solidFill>
              </a:defRPr>
            </a:pPr>
            <a:r>
              <a:rPr dirty="0"/>
              <a:t>Threshold &gt;= 80% (PASSED)</a:t>
            </a:r>
          </a:p>
        </p:txBody>
      </p:sp>
      <p:sp>
        <p:nvSpPr>
          <p:cNvPr id="6" name="Rounded Rectangle 5"/>
          <p:cNvSpPr/>
          <p:nvPr/>
        </p:nvSpPr>
        <p:spPr>
          <a:xfrm>
            <a:off x="3474720" y="1371600"/>
            <a:ext cx="2487168" cy="12801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66160" y="1417320"/>
            <a:ext cx="2304288" cy="700192"/>
          </a:xfrm>
          <a:prstGeom prst="rect">
            <a:avLst/>
          </a:prstGeom>
          <a:noFill/>
        </p:spPr>
        <p:txBody>
          <a:bodyPr wrap="square">
            <a:spAutoFit/>
          </a:bodyPr>
          <a:lstStyle/>
          <a:p>
            <a:pPr>
              <a:defRPr sz="900" b="1">
                <a:solidFill>
                  <a:srgbClr val="94A3B8"/>
                </a:solidFill>
              </a:defRPr>
            </a:pPr>
            <a:r>
              <a:rPr dirty="0"/>
              <a:t>RESIDUAL PII LEAKAGE</a:t>
            </a:r>
          </a:p>
          <a:p>
            <a:pPr>
              <a:defRPr sz="2200" b="1">
                <a:solidFill>
                  <a:srgbClr val="10B981"/>
                </a:solidFill>
              </a:defRPr>
            </a:pPr>
            <a:r>
              <a:rPr dirty="0">
                <a:solidFill>
                  <a:schemeClr val="bg1"/>
                </a:solidFill>
              </a:rPr>
              <a:t>0.00%</a:t>
            </a:r>
          </a:p>
          <a:p>
            <a:pPr>
              <a:defRPr sz="850">
                <a:solidFill>
                  <a:srgbClr val="FFFFFF"/>
                </a:solidFill>
              </a:defRPr>
            </a:pPr>
            <a:r>
              <a:rPr dirty="0"/>
              <a:t>Zero PII to AI Model (CERTIFIED)</a:t>
            </a:r>
          </a:p>
        </p:txBody>
      </p:sp>
      <p:sp>
        <p:nvSpPr>
          <p:cNvPr id="8" name="Rounded Rectangle 7"/>
          <p:cNvSpPr/>
          <p:nvPr/>
        </p:nvSpPr>
        <p:spPr>
          <a:xfrm>
            <a:off x="6217920" y="1371600"/>
            <a:ext cx="2487168" cy="12801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0" y="1417320"/>
            <a:ext cx="2304288" cy="700192"/>
          </a:xfrm>
          <a:prstGeom prst="rect">
            <a:avLst/>
          </a:prstGeom>
          <a:noFill/>
        </p:spPr>
        <p:txBody>
          <a:bodyPr wrap="square">
            <a:spAutoFit/>
          </a:bodyPr>
          <a:lstStyle/>
          <a:p>
            <a:pPr>
              <a:defRPr sz="900" b="1">
                <a:solidFill>
                  <a:srgbClr val="94A3B8"/>
                </a:solidFill>
              </a:defRPr>
            </a:pPr>
            <a:r>
              <a:rPr dirty="0"/>
              <a:t>PII RECALL COVERAGE</a:t>
            </a:r>
          </a:p>
          <a:p>
            <a:pPr>
              <a:defRPr sz="2200" b="1">
                <a:solidFill>
                  <a:srgbClr val="00D2FF"/>
                </a:solidFill>
              </a:defRPr>
            </a:pPr>
            <a:r>
              <a:rPr dirty="0">
                <a:solidFill>
                  <a:schemeClr val="bg1"/>
                </a:solidFill>
              </a:rPr>
              <a:t>~100%</a:t>
            </a:r>
          </a:p>
          <a:p>
            <a:pPr>
              <a:defRPr sz="850">
                <a:solidFill>
                  <a:srgbClr val="FFFFFF"/>
                </a:solidFill>
              </a:defRPr>
            </a:pPr>
            <a:r>
              <a:rPr dirty="0"/>
              <a:t>Full Coverage Across 5 Formats</a:t>
            </a:r>
          </a:p>
        </p:txBody>
      </p:sp>
      <p:sp>
        <p:nvSpPr>
          <p:cNvPr id="10" name="Rounded Rectangle 9"/>
          <p:cNvSpPr/>
          <p:nvPr/>
        </p:nvSpPr>
        <p:spPr>
          <a:xfrm>
            <a:off x="8961120" y="1371600"/>
            <a:ext cx="2487168" cy="12801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0" y="1417320"/>
            <a:ext cx="2304288" cy="700192"/>
          </a:xfrm>
          <a:prstGeom prst="rect">
            <a:avLst/>
          </a:prstGeom>
          <a:noFill/>
        </p:spPr>
        <p:txBody>
          <a:bodyPr wrap="square">
            <a:spAutoFit/>
          </a:bodyPr>
          <a:lstStyle/>
          <a:p>
            <a:pPr>
              <a:defRPr sz="900" b="1">
                <a:solidFill>
                  <a:srgbClr val="94A3B8"/>
                </a:solidFill>
              </a:defRPr>
            </a:pPr>
            <a:r>
              <a:rPr dirty="0"/>
              <a:t>CONTEXT CONTINUITY</a:t>
            </a:r>
          </a:p>
          <a:p>
            <a:pPr>
              <a:defRPr sz="2200" b="1">
                <a:solidFill>
                  <a:srgbClr val="00D2FF"/>
                </a:solidFill>
              </a:defRPr>
            </a:pPr>
            <a:r>
              <a:rPr dirty="0">
                <a:solidFill>
                  <a:schemeClr val="bg1"/>
                </a:solidFill>
              </a:rPr>
              <a:t>100%</a:t>
            </a:r>
          </a:p>
          <a:p>
            <a:pPr>
              <a:defRPr sz="850">
                <a:solidFill>
                  <a:srgbClr val="FFFFFF"/>
                </a:solidFill>
              </a:defRPr>
            </a:pPr>
            <a:r>
              <a:rPr dirty="0"/>
              <a:t>Preceding &amp; Succeeding Intact</a:t>
            </a:r>
          </a:p>
        </p:txBody>
      </p:sp>
      <p:graphicFrame>
        <p:nvGraphicFramePr>
          <p:cNvPr id="12" name="Table 11"/>
          <p:cNvGraphicFramePr>
            <a:graphicFrameLocks noGrp="1"/>
          </p:cNvGraphicFramePr>
          <p:nvPr>
            <p:extLst>
              <p:ext uri="{D42A27DB-BD31-4B8C-83A1-F6EECF244321}">
                <p14:modId xmlns:p14="http://schemas.microsoft.com/office/powerpoint/2010/main" val="3375691830"/>
              </p:ext>
            </p:extLst>
          </p:nvPr>
        </p:nvGraphicFramePr>
        <p:xfrm>
          <a:off x="731520" y="2926080"/>
          <a:ext cx="10725912"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99032">
                  <a:extLst>
                    <a:ext uri="{9D8B030D-6E8A-4147-A177-3AD203B41FA5}">
                      <a16:colId xmlns:a16="http://schemas.microsoft.com/office/drawing/2014/main" val="20005"/>
                    </a:ext>
                  </a:extLst>
                </a:gridCol>
              </a:tblGrid>
              <a:tr h="548640">
                <a:tc>
                  <a:txBody>
                    <a:bodyPr/>
                    <a:lstStyle/>
                    <a:p>
                      <a:pPr>
                        <a:defRPr sz="1000" b="1">
                          <a:solidFill>
                            <a:srgbClr val="00D2FF"/>
                          </a:solidFill>
                        </a:defRPr>
                      </a:pPr>
                      <a:r>
                        <a:rPr dirty="0">
                          <a:solidFill>
                            <a:schemeClr val="bg1"/>
                          </a:solidFill>
                        </a:rPr>
                        <a:t>Evidence Artifact Sample</a:t>
                      </a:r>
                    </a:p>
                  </a:txBody>
                  <a:tcPr>
                    <a:solidFill>
                      <a:srgbClr val="112240"/>
                    </a:solidFill>
                  </a:tcPr>
                </a:tc>
                <a:tc>
                  <a:txBody>
                    <a:bodyPr/>
                    <a:lstStyle/>
                    <a:p>
                      <a:pPr>
                        <a:defRPr sz="1000" b="1">
                          <a:solidFill>
                            <a:srgbClr val="00D2FF"/>
                          </a:solidFill>
                        </a:defRPr>
                      </a:pPr>
                      <a:r>
                        <a:rPr dirty="0">
                          <a:solidFill>
                            <a:schemeClr val="bg1"/>
                          </a:solidFill>
                        </a:rPr>
                        <a:t>Format Type</a:t>
                      </a:r>
                    </a:p>
                  </a:txBody>
                  <a:tcPr>
                    <a:solidFill>
                      <a:srgbClr val="112240"/>
                    </a:solidFill>
                  </a:tcPr>
                </a:tc>
                <a:tc>
                  <a:txBody>
                    <a:bodyPr/>
                    <a:lstStyle/>
                    <a:p>
                      <a:pPr>
                        <a:defRPr sz="1000" b="1">
                          <a:solidFill>
                            <a:srgbClr val="00D2FF"/>
                          </a:solidFill>
                        </a:defRPr>
                      </a:pPr>
                      <a:r>
                        <a:rPr dirty="0">
                          <a:solidFill>
                            <a:schemeClr val="bg1"/>
                          </a:solidFill>
                        </a:rPr>
                        <a:t>Structure Score</a:t>
                      </a:r>
                    </a:p>
                  </a:txBody>
                  <a:tcPr>
                    <a:solidFill>
                      <a:srgbClr val="112240"/>
                    </a:solidFill>
                  </a:tcPr>
                </a:tc>
                <a:tc>
                  <a:txBody>
                    <a:bodyPr/>
                    <a:lstStyle/>
                    <a:p>
                      <a:pPr>
                        <a:defRPr sz="1000" b="1">
                          <a:solidFill>
                            <a:srgbClr val="00D2FF"/>
                          </a:solidFill>
                        </a:defRPr>
                      </a:pPr>
                      <a:r>
                        <a:rPr dirty="0">
                          <a:solidFill>
                            <a:schemeClr val="bg1"/>
                          </a:solidFill>
                        </a:rPr>
                        <a:t>PII Detected</a:t>
                      </a:r>
                    </a:p>
                  </a:txBody>
                  <a:tcPr>
                    <a:solidFill>
                      <a:srgbClr val="112240"/>
                    </a:solidFill>
                  </a:tcPr>
                </a:tc>
                <a:tc>
                  <a:txBody>
                    <a:bodyPr/>
                    <a:lstStyle/>
                    <a:p>
                      <a:pPr>
                        <a:defRPr sz="1000" b="1">
                          <a:solidFill>
                            <a:srgbClr val="00D2FF"/>
                          </a:solidFill>
                        </a:defRPr>
                      </a:pPr>
                      <a:r>
                        <a:rPr dirty="0">
                          <a:solidFill>
                            <a:schemeClr val="bg1"/>
                          </a:solidFill>
                        </a:rPr>
                        <a:t>Residual Leakage</a:t>
                      </a:r>
                    </a:p>
                  </a:txBody>
                  <a:tcPr>
                    <a:solidFill>
                      <a:srgbClr val="112240"/>
                    </a:solidFill>
                  </a:tcPr>
                </a:tc>
                <a:tc>
                  <a:txBody>
                    <a:bodyPr/>
                    <a:lstStyle/>
                    <a:p>
                      <a:pPr>
                        <a:defRPr sz="1000" b="1">
                          <a:solidFill>
                            <a:srgbClr val="00D2FF"/>
                          </a:solidFill>
                        </a:defRPr>
                      </a:pPr>
                      <a:r>
                        <a:rPr dirty="0">
                          <a:solidFill>
                            <a:schemeClr val="bg1"/>
                          </a:solidFill>
                        </a:rPr>
                        <a:t>Status</a:t>
                      </a:r>
                    </a:p>
                  </a:txBody>
                  <a:tcPr>
                    <a:solidFill>
                      <a:srgbClr val="112240"/>
                    </a:solidFill>
                  </a:tcPr>
                </a:tc>
                <a:extLst>
                  <a:ext uri="{0D108BD9-81ED-4DB2-BD59-A6C34878D82A}">
                    <a16:rowId xmlns:a16="http://schemas.microsoft.com/office/drawing/2014/main" val="10000"/>
                  </a:ext>
                </a:extLst>
              </a:tr>
              <a:tr h="548640">
                <a:tc>
                  <a:txBody>
                    <a:bodyPr/>
                    <a:lstStyle/>
                    <a:p>
                      <a:pPr>
                        <a:defRPr sz="950">
                          <a:solidFill>
                            <a:srgbClr val="FFFFFF"/>
                          </a:solidFill>
                        </a:defRPr>
                      </a:pPr>
                      <a:r>
                        <a:t>cadence_process_audit_evidence.docx</a:t>
                      </a:r>
                    </a:p>
                  </a:txBody>
                  <a:tcPr>
                    <a:solidFill>
                      <a:srgbClr val="0A192F"/>
                    </a:solidFill>
                  </a:tcPr>
                </a:tc>
                <a:tc>
                  <a:txBody>
                    <a:bodyPr/>
                    <a:lstStyle/>
                    <a:p>
                      <a:pPr>
                        <a:defRPr sz="950">
                          <a:solidFill>
                            <a:srgbClr val="FFFFFF"/>
                          </a:solidFill>
                        </a:defRPr>
                      </a:pPr>
                      <a:r>
                        <a:t>Word DOCX</a:t>
                      </a:r>
                    </a:p>
                  </a:txBody>
                  <a:tcPr>
                    <a:solidFill>
                      <a:srgbClr val="0A192F"/>
                    </a:solidFill>
                  </a:tcPr>
                </a:tc>
                <a:tc>
                  <a:txBody>
                    <a:bodyPr/>
                    <a:lstStyle/>
                    <a:p>
                      <a:pPr>
                        <a:defRPr sz="950">
                          <a:solidFill>
                            <a:srgbClr val="FFFFFF"/>
                          </a:solidFill>
                        </a:defRPr>
                      </a:pPr>
                      <a:r>
                        <a:t>99.5%</a:t>
                      </a:r>
                    </a:p>
                  </a:txBody>
                  <a:tcPr>
                    <a:solidFill>
                      <a:srgbClr val="0A192F"/>
                    </a:solidFill>
                  </a:tcPr>
                </a:tc>
                <a:tc>
                  <a:txBody>
                    <a:bodyPr/>
                    <a:lstStyle/>
                    <a:p>
                      <a:pPr>
                        <a:defRPr sz="950">
                          <a:solidFill>
                            <a:srgbClr val="FFFFFF"/>
                          </a:solidFill>
                        </a:defRPr>
                      </a:pPr>
                      <a:r>
                        <a:t>19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1"/>
                  </a:ext>
                </a:extLst>
              </a:tr>
              <a:tr h="548640">
                <a:tc>
                  <a:txBody>
                    <a:bodyPr/>
                    <a:lstStyle/>
                    <a:p>
                      <a:pPr>
                        <a:defRPr sz="950">
                          <a:solidFill>
                            <a:srgbClr val="FFFFFF"/>
                          </a:solidFill>
                        </a:defRPr>
                      </a:pPr>
                      <a:r>
                        <a:t>cadence_q3_controls_presentation.pptx</a:t>
                      </a:r>
                    </a:p>
                  </a:txBody>
                  <a:tcPr>
                    <a:solidFill>
                      <a:srgbClr val="0A192F"/>
                    </a:solidFill>
                  </a:tcPr>
                </a:tc>
                <a:tc>
                  <a:txBody>
                    <a:bodyPr/>
                    <a:lstStyle/>
                    <a:p>
                      <a:pPr>
                        <a:defRPr sz="950">
                          <a:solidFill>
                            <a:srgbClr val="FFFFFF"/>
                          </a:solidFill>
                        </a:defRPr>
                      </a:pPr>
                      <a:r>
                        <a:t>PowerPoint PPTX</a:t>
                      </a:r>
                    </a:p>
                  </a:txBody>
                  <a:tcPr>
                    <a:solidFill>
                      <a:srgbClr val="0A192F"/>
                    </a:solidFill>
                  </a:tcPr>
                </a:tc>
                <a:tc>
                  <a:txBody>
                    <a:bodyPr/>
                    <a:lstStyle/>
                    <a:p>
                      <a:pPr>
                        <a:defRPr sz="950">
                          <a:solidFill>
                            <a:srgbClr val="FFFFFF"/>
                          </a:solidFill>
                        </a:defRPr>
                      </a:pPr>
                      <a:r>
                        <a:t>99.5%</a:t>
                      </a:r>
                    </a:p>
                  </a:txBody>
                  <a:tcPr>
                    <a:solidFill>
                      <a:srgbClr val="0A192F"/>
                    </a:solidFill>
                  </a:tcPr>
                </a:tc>
                <a:tc>
                  <a:txBody>
                    <a:bodyPr/>
                    <a:lstStyle/>
                    <a:p>
                      <a:pPr>
                        <a:defRPr sz="950">
                          <a:solidFill>
                            <a:srgbClr val="FFFFFF"/>
                          </a:solidFill>
                        </a:defRPr>
                      </a:pPr>
                      <a:r>
                        <a:t>18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2"/>
                  </a:ext>
                </a:extLst>
              </a:tr>
              <a:tr h="548640">
                <a:tc>
                  <a:txBody>
                    <a:bodyPr/>
                    <a:lstStyle/>
                    <a:p>
                      <a:pPr>
                        <a:defRPr sz="950">
                          <a:solidFill>
                            <a:srgbClr val="FFFFFF"/>
                          </a:solidFill>
                        </a:defRPr>
                      </a:pPr>
                      <a:r>
                        <a:t>cadence_scanned_policy_document.pdf</a:t>
                      </a:r>
                    </a:p>
                  </a:txBody>
                  <a:tcPr>
                    <a:solidFill>
                      <a:srgbClr val="0A192F"/>
                    </a:solidFill>
                  </a:tcPr>
                </a:tc>
                <a:tc>
                  <a:txBody>
                    <a:bodyPr/>
                    <a:lstStyle/>
                    <a:p>
                      <a:pPr>
                        <a:defRPr sz="950">
                          <a:solidFill>
                            <a:srgbClr val="FFFFFF"/>
                          </a:solidFill>
                        </a:defRPr>
                      </a:pPr>
                      <a:r>
                        <a:t>PDF / OCR</a:t>
                      </a:r>
                    </a:p>
                  </a:txBody>
                  <a:tcPr>
                    <a:solidFill>
                      <a:srgbClr val="0A192F"/>
                    </a:solidFill>
                  </a:tcPr>
                </a:tc>
                <a:tc>
                  <a:txBody>
                    <a:bodyPr/>
                    <a:lstStyle/>
                    <a:p>
                      <a:pPr>
                        <a:defRPr sz="950">
                          <a:solidFill>
                            <a:srgbClr val="FFFFFF"/>
                          </a:solidFill>
                        </a:defRPr>
                      </a:pPr>
                      <a:r>
                        <a:t>98.7%</a:t>
                      </a:r>
                    </a:p>
                  </a:txBody>
                  <a:tcPr>
                    <a:solidFill>
                      <a:srgbClr val="0A192F"/>
                    </a:solidFill>
                  </a:tcPr>
                </a:tc>
                <a:tc>
                  <a:txBody>
                    <a:bodyPr/>
                    <a:lstStyle/>
                    <a:p>
                      <a:pPr>
                        <a:defRPr sz="950">
                          <a:solidFill>
                            <a:srgbClr val="FFFFFF"/>
                          </a:solidFill>
                        </a:defRPr>
                      </a:pPr>
                      <a:r>
                        <a:t>24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3"/>
                  </a:ext>
                </a:extLst>
              </a:tr>
              <a:tr h="548640">
                <a:tc>
                  <a:txBody>
                    <a:bodyPr/>
                    <a:lstStyle/>
                    <a:p>
                      <a:pPr>
                        <a:defRPr sz="950">
                          <a:solidFill>
                            <a:srgbClr val="FFFFFF"/>
                          </a:solidFill>
                        </a:defRPr>
                      </a:pPr>
                      <a:r>
                        <a:t>cadence_vendor_payroll_evidence.xlsx</a:t>
                      </a:r>
                    </a:p>
                  </a:txBody>
                  <a:tcPr>
                    <a:solidFill>
                      <a:srgbClr val="0A192F"/>
                    </a:solidFill>
                  </a:tcPr>
                </a:tc>
                <a:tc>
                  <a:txBody>
                    <a:bodyPr/>
                    <a:lstStyle/>
                    <a:p>
                      <a:pPr>
                        <a:defRPr sz="950">
                          <a:solidFill>
                            <a:srgbClr val="FFFFFF"/>
                          </a:solidFill>
                        </a:defRPr>
                      </a:pPr>
                      <a:r>
                        <a:t>Excel XLSX</a:t>
                      </a:r>
                    </a:p>
                  </a:txBody>
                  <a:tcPr>
                    <a:solidFill>
                      <a:srgbClr val="0A192F"/>
                    </a:solidFill>
                  </a:tcPr>
                </a:tc>
                <a:tc>
                  <a:txBody>
                    <a:bodyPr/>
                    <a:lstStyle/>
                    <a:p>
                      <a:pPr>
                        <a:defRPr sz="950">
                          <a:solidFill>
                            <a:srgbClr val="FFFFFF"/>
                          </a:solidFill>
                        </a:defRPr>
                      </a:pPr>
                      <a:r>
                        <a:t>99.5%</a:t>
                      </a:r>
                    </a:p>
                  </a:txBody>
                  <a:tcPr>
                    <a:solidFill>
                      <a:srgbClr val="0A192F"/>
                    </a:solidFill>
                  </a:tcPr>
                </a:tc>
                <a:tc>
                  <a:txBody>
                    <a:bodyPr/>
                    <a:lstStyle/>
                    <a:p>
                      <a:pPr>
                        <a:defRPr sz="950">
                          <a:solidFill>
                            <a:srgbClr val="FFFFFF"/>
                          </a:solidFill>
                        </a:defRPr>
                      </a:pPr>
                      <a:r>
                        <a:t>25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4"/>
                  </a:ext>
                </a:extLst>
              </a:tr>
              <a:tr h="548640">
                <a:tc>
                  <a:txBody>
                    <a:bodyPr/>
                    <a:lstStyle/>
                    <a:p>
                      <a:pPr>
                        <a:defRPr sz="950">
                          <a:solidFill>
                            <a:srgbClr val="FFFFFF"/>
                          </a:solidFill>
                        </a:defRPr>
                      </a:pPr>
                      <a:r>
                        <a:t>cadence_cloud_audit_logs.txt</a:t>
                      </a:r>
                    </a:p>
                  </a:txBody>
                  <a:tcPr>
                    <a:solidFill>
                      <a:srgbClr val="0A192F"/>
                    </a:solidFill>
                  </a:tcPr>
                </a:tc>
                <a:tc>
                  <a:txBody>
                    <a:bodyPr/>
                    <a:lstStyle/>
                    <a:p>
                      <a:pPr>
                        <a:defRPr sz="950">
                          <a:solidFill>
                            <a:srgbClr val="FFFFFF"/>
                          </a:solidFill>
                        </a:defRPr>
                      </a:pPr>
                      <a:r>
                        <a:t>System Logs TXT</a:t>
                      </a:r>
                    </a:p>
                  </a:txBody>
                  <a:tcPr>
                    <a:solidFill>
                      <a:srgbClr val="0A192F"/>
                    </a:solidFill>
                  </a:tcPr>
                </a:tc>
                <a:tc>
                  <a:txBody>
                    <a:bodyPr/>
                    <a:lstStyle/>
                    <a:p>
                      <a:pPr>
                        <a:defRPr sz="950">
                          <a:solidFill>
                            <a:srgbClr val="FFFFFF"/>
                          </a:solidFill>
                        </a:defRPr>
                      </a:pPr>
                      <a:r>
                        <a:t>99.5%</a:t>
                      </a:r>
                    </a:p>
                  </a:txBody>
                  <a:tcPr>
                    <a:solidFill>
                      <a:srgbClr val="0A192F"/>
                    </a:solidFill>
                  </a:tcPr>
                </a:tc>
                <a:tc>
                  <a:txBody>
                    <a:bodyPr/>
                    <a:lstStyle/>
                    <a:p>
                      <a:pPr>
                        <a:defRPr sz="950">
                          <a:solidFill>
                            <a:srgbClr val="FFFFFF"/>
                          </a:solidFill>
                        </a:defRPr>
                      </a:pPr>
                      <a:r>
                        <a:t>14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Enterprise Security Posture: Cryptographic Integrity &amp; Governance</a:t>
            </a:r>
          </a:p>
        </p:txBody>
      </p:sp>
      <p:sp>
        <p:nvSpPr>
          <p:cNvPr id="4" name="Rounded Rectangle 3"/>
          <p:cNvSpPr/>
          <p:nvPr/>
        </p:nvSpPr>
        <p:spPr>
          <a:xfrm>
            <a:off x="731520"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2962656" cy="3354765"/>
          </a:xfrm>
          <a:prstGeom prst="rect">
            <a:avLst/>
          </a:prstGeom>
          <a:noFill/>
        </p:spPr>
        <p:txBody>
          <a:bodyPr wrap="square">
            <a:spAutoFit/>
          </a:bodyPr>
          <a:lstStyle/>
          <a:p>
            <a:pPr>
              <a:defRPr sz="1200" b="1">
                <a:solidFill>
                  <a:srgbClr val="00D2FF"/>
                </a:solidFill>
              </a:defRPr>
            </a:pPr>
            <a:r>
              <a:rPr sz="1400" dirty="0">
                <a:solidFill>
                  <a:schemeClr val="bg1"/>
                </a:solidFill>
              </a:rPr>
              <a:t>DUAL-MODE TOKENIZATION</a:t>
            </a:r>
          </a:p>
          <a:p>
            <a:br>
              <a:rPr dirty="0"/>
            </a:br>
            <a:r>
              <a:rPr sz="1400" dirty="0">
                <a:solidFill>
                  <a:schemeClr val="bg1"/>
                </a:solidFill>
              </a:rPr>
              <a:t>• LLM Safe Mode (Irreversible):</a:t>
            </a:r>
            <a:br>
              <a:rPr sz="1400" dirty="0">
                <a:solidFill>
                  <a:schemeClr val="bg1"/>
                </a:solidFill>
              </a:rPr>
            </a:br>
            <a:r>
              <a:rPr sz="1400" dirty="0">
                <a:solidFill>
                  <a:schemeClr val="bg1"/>
                </a:solidFill>
              </a:rPr>
              <a:t>  Permanently strips all PII mappings. The resulting payload passed to the AI model contains only transparent tags ([REDACTED:PERSON_1]). Zero keys are retained.</a:t>
            </a:r>
            <a:br>
              <a:rPr sz="1400" dirty="0">
                <a:solidFill>
                  <a:schemeClr val="bg1"/>
                </a:solidFill>
              </a:rPr>
            </a:br>
            <a:br>
              <a:rPr sz="1400" dirty="0">
                <a:solidFill>
                  <a:schemeClr val="bg1"/>
                </a:solidFill>
              </a:rPr>
            </a:br>
            <a:r>
              <a:rPr sz="1400" dirty="0">
                <a:solidFill>
                  <a:schemeClr val="bg1"/>
                </a:solidFill>
              </a:rPr>
              <a:t>• Auditor Vault Mode (Reversible):</a:t>
            </a:r>
            <a:br>
              <a:rPr sz="1400" dirty="0">
                <a:solidFill>
                  <a:schemeClr val="bg1"/>
                </a:solidFill>
              </a:rPr>
            </a:br>
            <a:r>
              <a:rPr sz="1400" dirty="0">
                <a:solidFill>
                  <a:schemeClr val="bg1"/>
                </a:solidFill>
              </a:rPr>
              <a:t>  Encrypted using AES-256-GCM authenticated cipher with PBKDF2 salt and nonce. Allows internal auditors to re-identify evidence during formal investigations.</a:t>
            </a:r>
          </a:p>
        </p:txBody>
      </p:sp>
      <p:sp>
        <p:nvSpPr>
          <p:cNvPr id="6" name="Rounded Rectangle 5"/>
          <p:cNvSpPr/>
          <p:nvPr/>
        </p:nvSpPr>
        <p:spPr>
          <a:xfrm>
            <a:off x="4425696"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08576" y="1645920"/>
            <a:ext cx="2962656" cy="3200876"/>
          </a:xfrm>
          <a:prstGeom prst="rect">
            <a:avLst/>
          </a:prstGeom>
          <a:noFill/>
        </p:spPr>
        <p:txBody>
          <a:bodyPr wrap="square">
            <a:spAutoFit/>
          </a:bodyPr>
          <a:lstStyle/>
          <a:p>
            <a:pPr>
              <a:defRPr sz="1200" b="1">
                <a:solidFill>
                  <a:srgbClr val="10B981"/>
                </a:solidFill>
              </a:defRPr>
            </a:pPr>
            <a:r>
              <a:rPr sz="1400" dirty="0">
                <a:solidFill>
                  <a:schemeClr val="bg1"/>
                </a:solidFill>
              </a:rPr>
              <a:t>CRYPTOGRAPHIC PROVENANCE</a:t>
            </a:r>
          </a:p>
          <a:p>
            <a:br>
              <a:rPr dirty="0"/>
            </a:br>
            <a:r>
              <a:rPr dirty="0"/>
              <a:t>• </a:t>
            </a:r>
            <a:r>
              <a:rPr sz="1400" dirty="0">
                <a:solidFill>
                  <a:schemeClr val="bg1"/>
                </a:solidFill>
              </a:rPr>
              <a:t>SHA-256 Input Digest:</a:t>
            </a:r>
            <a:br>
              <a:rPr sz="1400" dirty="0">
                <a:solidFill>
                  <a:schemeClr val="bg1"/>
                </a:solidFill>
              </a:rPr>
            </a:br>
            <a:r>
              <a:rPr sz="1400" dirty="0">
                <a:solidFill>
                  <a:schemeClr val="bg1"/>
                </a:solidFill>
              </a:rPr>
              <a:t>  Fingerprints raw evidence artifact to establish chain of custody.</a:t>
            </a:r>
            <a:br>
              <a:rPr sz="1400" dirty="0">
                <a:solidFill>
                  <a:schemeClr val="bg1"/>
                </a:solidFill>
              </a:rPr>
            </a:br>
            <a:br>
              <a:rPr sz="1400" dirty="0">
                <a:solidFill>
                  <a:schemeClr val="bg1"/>
                </a:solidFill>
              </a:rPr>
            </a:br>
            <a:r>
              <a:rPr sz="1400" dirty="0">
                <a:solidFill>
                  <a:schemeClr val="bg1"/>
                </a:solidFill>
              </a:rPr>
              <a:t>• SHA-256 Output Digest:</a:t>
            </a:r>
            <a:br>
              <a:rPr sz="1400" dirty="0">
                <a:solidFill>
                  <a:schemeClr val="bg1"/>
                </a:solidFill>
              </a:rPr>
            </a:br>
            <a:r>
              <a:rPr sz="1400" dirty="0">
                <a:solidFill>
                  <a:schemeClr val="bg1"/>
                </a:solidFill>
              </a:rPr>
              <a:t>  Guarantees integrity of the sanitized text delivered to the AI model.</a:t>
            </a:r>
            <a:br>
              <a:rPr sz="1400" dirty="0">
                <a:solidFill>
                  <a:schemeClr val="bg1"/>
                </a:solidFill>
              </a:rPr>
            </a:br>
            <a:br>
              <a:rPr sz="1400" dirty="0">
                <a:solidFill>
                  <a:schemeClr val="bg1"/>
                </a:solidFill>
              </a:rPr>
            </a:br>
            <a:r>
              <a:rPr sz="1400" dirty="0">
                <a:solidFill>
                  <a:schemeClr val="bg1"/>
                </a:solidFill>
              </a:rPr>
              <a:t>• HMAC-SHA256 Audit Signature:</a:t>
            </a:r>
            <a:br>
              <a:rPr sz="1400" dirty="0">
                <a:solidFill>
                  <a:schemeClr val="bg1"/>
                </a:solidFill>
              </a:rPr>
            </a:br>
            <a:r>
              <a:rPr sz="1400" dirty="0">
                <a:solidFill>
                  <a:schemeClr val="bg1"/>
                </a:solidFill>
              </a:rPr>
              <a:t>  Tamper-evident verification linking every redacted tag to its masked value, location, and confidence score.</a:t>
            </a:r>
          </a:p>
        </p:txBody>
      </p:sp>
      <p:sp>
        <p:nvSpPr>
          <p:cNvPr id="8" name="Rounded Rectangle 7"/>
          <p:cNvSpPr/>
          <p:nvPr/>
        </p:nvSpPr>
        <p:spPr>
          <a:xfrm>
            <a:off x="8119872"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02752" y="1645920"/>
            <a:ext cx="2962656" cy="3539430"/>
          </a:xfrm>
          <a:prstGeom prst="rect">
            <a:avLst/>
          </a:prstGeom>
          <a:noFill/>
        </p:spPr>
        <p:txBody>
          <a:bodyPr wrap="square">
            <a:spAutoFit/>
          </a:bodyPr>
          <a:lstStyle/>
          <a:p>
            <a:pPr>
              <a:defRPr sz="1200" b="1">
                <a:solidFill>
                  <a:srgbClr val="F59E0B"/>
                </a:solidFill>
              </a:defRPr>
            </a:pPr>
            <a:r>
              <a:rPr sz="1400" dirty="0">
                <a:solidFill>
                  <a:schemeClr val="bg1"/>
                </a:solidFill>
              </a:rPr>
              <a:t>REGULATORY MAPPING</a:t>
            </a:r>
          </a:p>
          <a:p>
            <a:br>
              <a:rPr sz="1400" dirty="0">
                <a:solidFill>
                  <a:schemeClr val="bg1"/>
                </a:solidFill>
              </a:rPr>
            </a:br>
            <a:r>
              <a:rPr sz="1400" dirty="0">
                <a:solidFill>
                  <a:schemeClr val="bg1"/>
                </a:solidFill>
              </a:rPr>
              <a:t>• NIST SP 800-53 Rev. 5:</a:t>
            </a:r>
            <a:br>
              <a:rPr sz="1400" dirty="0">
                <a:solidFill>
                  <a:schemeClr val="bg1"/>
                </a:solidFill>
              </a:rPr>
            </a:br>
            <a:r>
              <a:rPr sz="1400" dirty="0">
                <a:solidFill>
                  <a:schemeClr val="bg1"/>
                </a:solidFill>
              </a:rPr>
              <a:t>  Satisfies AC-2, AC-3 (Access Enforcement) and SC-28 (Protection of Information at Rest).</a:t>
            </a:r>
            <a:br>
              <a:rPr sz="1400" dirty="0">
                <a:solidFill>
                  <a:schemeClr val="bg1"/>
                </a:solidFill>
              </a:rPr>
            </a:br>
            <a:br>
              <a:rPr sz="1400" dirty="0">
                <a:solidFill>
                  <a:schemeClr val="bg1"/>
                </a:solidFill>
              </a:rPr>
            </a:br>
            <a:r>
              <a:rPr sz="1400" dirty="0">
                <a:solidFill>
                  <a:schemeClr val="bg1"/>
                </a:solidFill>
              </a:rPr>
              <a:t>• ISO/IEC 27001:2022:</a:t>
            </a:r>
            <a:br>
              <a:rPr sz="1400" dirty="0">
                <a:solidFill>
                  <a:schemeClr val="bg1"/>
                </a:solidFill>
              </a:rPr>
            </a:br>
            <a:r>
              <a:rPr sz="1400" dirty="0">
                <a:solidFill>
                  <a:schemeClr val="bg1"/>
                </a:solidFill>
              </a:rPr>
              <a:t>  Aligns with Control A.8.10 (Information Deletion and Data Masking).</a:t>
            </a:r>
            <a:br>
              <a:rPr sz="1400" dirty="0">
                <a:solidFill>
                  <a:schemeClr val="bg1"/>
                </a:solidFill>
              </a:rPr>
            </a:br>
            <a:br>
              <a:rPr sz="1400" dirty="0">
                <a:solidFill>
                  <a:schemeClr val="bg1"/>
                </a:solidFill>
              </a:rPr>
            </a:br>
            <a:r>
              <a:rPr sz="1400" dirty="0">
                <a:solidFill>
                  <a:schemeClr val="bg1"/>
                </a:solidFill>
              </a:rPr>
              <a:t>• GDPR &amp; CCPA/CPRA:</a:t>
            </a:r>
            <a:br>
              <a:rPr sz="1400" dirty="0">
                <a:solidFill>
                  <a:schemeClr val="bg1"/>
                </a:solidFill>
              </a:rPr>
            </a:br>
            <a:r>
              <a:rPr sz="1400" dirty="0">
                <a:solidFill>
                  <a:schemeClr val="bg1"/>
                </a:solidFill>
              </a:rPr>
              <a:t>  Enforces Article 5(1)(c) Data </a:t>
            </a:r>
            <a:r>
              <a:rPr sz="1400" dirty="0" err="1">
                <a:solidFill>
                  <a:schemeClr val="bg1"/>
                </a:solidFill>
              </a:rPr>
              <a:t>Minimisation</a:t>
            </a:r>
            <a:r>
              <a:rPr sz="1400" dirty="0">
                <a:solidFill>
                  <a:schemeClr val="bg1"/>
                </a:solidFill>
              </a:rPr>
              <a:t> and CCPA employee PII safeguarding.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05 Live Walkthrough: Operational Playbook &amp; Web UI Demonstration</a:t>
            </a:r>
          </a:p>
        </p:txBody>
      </p:sp>
      <p:sp>
        <p:nvSpPr>
          <p:cNvPr id="4" name="Rounded Rectangle 3"/>
          <p:cNvSpPr/>
          <p:nvPr/>
        </p:nvSpPr>
        <p:spPr>
          <a:xfrm>
            <a:off x="731520" y="1463040"/>
            <a:ext cx="5120640" cy="21945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6516" y="1600200"/>
            <a:ext cx="4846320" cy="1600438"/>
          </a:xfrm>
          <a:prstGeom prst="rect">
            <a:avLst/>
          </a:prstGeom>
          <a:noFill/>
        </p:spPr>
        <p:txBody>
          <a:bodyPr wrap="square">
            <a:spAutoFit/>
          </a:bodyPr>
          <a:lstStyle/>
          <a:p>
            <a:pPr>
              <a:defRPr sz="1100" b="1">
                <a:solidFill>
                  <a:srgbClr val="00D2FF"/>
                </a:solidFill>
              </a:defRPr>
            </a:pPr>
            <a:r>
              <a:rPr sz="1400" dirty="0">
                <a:solidFill>
                  <a:schemeClr val="bg1"/>
                </a:solidFill>
              </a:rPr>
              <a:t>STEP 1: EVIDENCE INGESTION &amp; FORMAT AUTO-DETECTION</a:t>
            </a:r>
          </a:p>
          <a:p>
            <a:br>
              <a:rPr sz="1400" dirty="0">
                <a:solidFill>
                  <a:schemeClr val="bg1"/>
                </a:solidFill>
              </a:rPr>
            </a:br>
            <a:r>
              <a:rPr sz="1400" dirty="0">
                <a:solidFill>
                  <a:schemeClr val="bg1"/>
                </a:solidFill>
              </a:rPr>
              <a:t>• User drags &amp; drops artifact (.pdf, .pptx, .docx, .xlsx, .txt) into UI.</a:t>
            </a:r>
            <a:br>
              <a:rPr sz="1400" dirty="0">
                <a:solidFill>
                  <a:schemeClr val="bg1"/>
                </a:solidFill>
              </a:rPr>
            </a:br>
            <a:r>
              <a:rPr sz="1400" dirty="0">
                <a:solidFill>
                  <a:schemeClr val="bg1"/>
                </a:solidFill>
              </a:rPr>
              <a:t>• Engine automatically selects high-fidelity parser and calculates structure retention score.</a:t>
            </a:r>
            <a:br>
              <a:rPr sz="1400" dirty="0">
                <a:solidFill>
                  <a:schemeClr val="bg1"/>
                </a:solidFill>
              </a:rPr>
            </a:br>
            <a:r>
              <a:rPr sz="1400" dirty="0">
                <a:solidFill>
                  <a:schemeClr val="bg1"/>
                </a:solidFill>
              </a:rPr>
              <a:t>• Live indicator confirms structure retention &gt; 80%.</a:t>
            </a:r>
          </a:p>
        </p:txBody>
      </p:sp>
      <p:sp>
        <p:nvSpPr>
          <p:cNvPr id="6" name="Rounded Rectangle 5"/>
          <p:cNvSpPr/>
          <p:nvPr/>
        </p:nvSpPr>
        <p:spPr>
          <a:xfrm>
            <a:off x="6309360" y="1463040"/>
            <a:ext cx="5120640" cy="21945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46520" y="1600200"/>
            <a:ext cx="4846320" cy="1815882"/>
          </a:xfrm>
          <a:prstGeom prst="rect">
            <a:avLst/>
          </a:prstGeom>
          <a:noFill/>
        </p:spPr>
        <p:txBody>
          <a:bodyPr wrap="square">
            <a:spAutoFit/>
          </a:bodyPr>
          <a:lstStyle/>
          <a:p>
            <a:pPr>
              <a:defRPr sz="1100" b="1">
                <a:solidFill>
                  <a:srgbClr val="10B981"/>
                </a:solidFill>
              </a:defRPr>
            </a:pPr>
            <a:r>
              <a:rPr sz="1400" dirty="0">
                <a:solidFill>
                  <a:schemeClr val="bg1"/>
                </a:solidFill>
              </a:rPr>
              <a:t>STEP 2: MULTI-TIER PII EXTRACTION &amp; MASKING</a:t>
            </a:r>
          </a:p>
          <a:p>
            <a:br>
              <a:rPr sz="1400" dirty="0">
                <a:solidFill>
                  <a:schemeClr val="bg1"/>
                </a:solidFill>
              </a:rPr>
            </a:br>
            <a:r>
              <a:rPr sz="1400" dirty="0">
                <a:solidFill>
                  <a:schemeClr val="bg1"/>
                </a:solidFill>
              </a:rPr>
              <a:t>• Tier 1-4 pipeline identifies all entities and applies transparent semantic tags.</a:t>
            </a:r>
            <a:br>
              <a:rPr sz="1400" dirty="0">
                <a:solidFill>
                  <a:schemeClr val="bg1"/>
                </a:solidFill>
              </a:rPr>
            </a:br>
            <a:r>
              <a:rPr sz="1400" dirty="0">
                <a:solidFill>
                  <a:schemeClr val="bg1"/>
                </a:solidFill>
              </a:rPr>
              <a:t>• Coreference resolution ensures consistent tags across multi-page flows.</a:t>
            </a:r>
            <a:br>
              <a:rPr sz="1400" dirty="0">
                <a:solidFill>
                  <a:schemeClr val="bg1"/>
                </a:solidFill>
              </a:rPr>
            </a:br>
            <a:r>
              <a:rPr sz="1400" dirty="0">
                <a:solidFill>
                  <a:schemeClr val="bg1"/>
                </a:solidFill>
              </a:rPr>
              <a:t>• Preceding and succeeding context is preserved with zero layout degradation.</a:t>
            </a:r>
          </a:p>
        </p:txBody>
      </p:sp>
      <p:sp>
        <p:nvSpPr>
          <p:cNvPr id="8" name="Rounded Rectangle 7"/>
          <p:cNvSpPr/>
          <p:nvPr/>
        </p:nvSpPr>
        <p:spPr>
          <a:xfrm>
            <a:off x="731520" y="3931920"/>
            <a:ext cx="5120640" cy="21945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4069080"/>
            <a:ext cx="4846320" cy="1384995"/>
          </a:xfrm>
          <a:prstGeom prst="rect">
            <a:avLst/>
          </a:prstGeom>
          <a:noFill/>
        </p:spPr>
        <p:txBody>
          <a:bodyPr wrap="square">
            <a:spAutoFit/>
          </a:bodyPr>
          <a:lstStyle/>
          <a:p>
            <a:pPr>
              <a:defRPr sz="1100" b="1">
                <a:solidFill>
                  <a:srgbClr val="F59E0B"/>
                </a:solidFill>
              </a:defRPr>
            </a:pPr>
            <a:r>
              <a:rPr sz="1200" dirty="0">
                <a:solidFill>
                  <a:schemeClr val="bg1"/>
                </a:solidFill>
              </a:rPr>
              <a:t>STEP 3: AUDIT EXPOSURE ANALYSIS &amp; PROVENANCE</a:t>
            </a:r>
          </a:p>
          <a:p>
            <a:br>
              <a:rPr sz="1200" dirty="0">
                <a:solidFill>
                  <a:schemeClr val="bg1"/>
                </a:solidFill>
              </a:rPr>
            </a:br>
            <a:r>
              <a:rPr sz="1200" dirty="0">
                <a:solidFill>
                  <a:schemeClr val="bg1"/>
                </a:solidFill>
              </a:rPr>
              <a:t>• Live traceability table surfaces every entity, risk tier, confidence, and page location.</a:t>
            </a:r>
            <a:br>
              <a:rPr sz="1200" dirty="0">
                <a:solidFill>
                  <a:schemeClr val="bg1"/>
                </a:solidFill>
              </a:rPr>
            </a:br>
            <a:r>
              <a:rPr sz="1200" dirty="0">
                <a:solidFill>
                  <a:schemeClr val="bg1"/>
                </a:solidFill>
              </a:rPr>
              <a:t>• Cryptographic SHA-256 hashes generated for raw input and sanitized output.</a:t>
            </a:r>
            <a:br>
              <a:rPr sz="1200" dirty="0">
                <a:solidFill>
                  <a:schemeClr val="bg1"/>
                </a:solidFill>
              </a:rPr>
            </a:br>
            <a:r>
              <a:rPr sz="1200" dirty="0">
                <a:solidFill>
                  <a:schemeClr val="bg1"/>
                </a:solidFill>
              </a:rPr>
              <a:t>• Compliance checklist evaluates NIST, ISO, GDPR, and PCI-DSS readiness.</a:t>
            </a:r>
          </a:p>
        </p:txBody>
      </p:sp>
      <p:sp>
        <p:nvSpPr>
          <p:cNvPr id="10" name="Rounded Rectangle 9"/>
          <p:cNvSpPr/>
          <p:nvPr/>
        </p:nvSpPr>
        <p:spPr>
          <a:xfrm>
            <a:off x="6309360" y="3931920"/>
            <a:ext cx="5120640" cy="21945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4069080"/>
            <a:ext cx="4846320" cy="1815882"/>
          </a:xfrm>
          <a:prstGeom prst="rect">
            <a:avLst/>
          </a:prstGeom>
          <a:noFill/>
        </p:spPr>
        <p:txBody>
          <a:bodyPr wrap="square">
            <a:spAutoFit/>
          </a:bodyPr>
          <a:lstStyle/>
          <a:p>
            <a:pPr>
              <a:defRPr sz="1100" b="1">
                <a:solidFill>
                  <a:srgbClr val="00D2FF"/>
                </a:solidFill>
              </a:defRPr>
            </a:pPr>
            <a:r>
              <a:rPr sz="1400" dirty="0">
                <a:solidFill>
                  <a:schemeClr val="bg1"/>
                </a:solidFill>
              </a:rPr>
              <a:t>STEP 4: LLM-SAFE EXPORT &amp; AUDITOR RESTORATION</a:t>
            </a:r>
          </a:p>
          <a:p>
            <a:br>
              <a:rPr sz="1400" dirty="0">
                <a:solidFill>
                  <a:schemeClr val="bg1"/>
                </a:solidFill>
              </a:rPr>
            </a:br>
            <a:r>
              <a:rPr sz="1400" dirty="0">
                <a:solidFill>
                  <a:schemeClr val="bg1"/>
                </a:solidFill>
              </a:rPr>
              <a:t>• 1-Click download of certified LLM-Ready text (0.00% residual leakage).</a:t>
            </a:r>
            <a:br>
              <a:rPr sz="1400" dirty="0">
                <a:solidFill>
                  <a:schemeClr val="bg1"/>
                </a:solidFill>
              </a:rPr>
            </a:br>
            <a:r>
              <a:rPr sz="1400" dirty="0">
                <a:solidFill>
                  <a:schemeClr val="bg1"/>
                </a:solidFill>
              </a:rPr>
              <a:t>• Download audit certificate JSON for formal control evaluation records.</a:t>
            </a:r>
            <a:br>
              <a:rPr sz="1400" dirty="0">
                <a:solidFill>
                  <a:schemeClr val="bg1"/>
                </a:solidFill>
              </a:rPr>
            </a:br>
            <a:r>
              <a:rPr sz="1400" dirty="0">
                <a:solidFill>
                  <a:schemeClr val="bg1"/>
                </a:solidFill>
              </a:rPr>
              <a:t>• Authorized auditors can test AES-256 de-pseudonymization using master key.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Conclusion &amp; Production Integration Roadmap</a:t>
            </a:r>
          </a:p>
        </p:txBody>
      </p:sp>
      <p:sp>
        <p:nvSpPr>
          <p:cNvPr id="4" name="Rounded Rectangle 3"/>
          <p:cNvSpPr/>
          <p:nvPr/>
        </p:nvSpPr>
        <p:spPr>
          <a:xfrm>
            <a:off x="731520" y="1371600"/>
            <a:ext cx="5120640" cy="49377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54480"/>
            <a:ext cx="4754880" cy="3754874"/>
          </a:xfrm>
          <a:prstGeom prst="rect">
            <a:avLst/>
          </a:prstGeom>
          <a:noFill/>
        </p:spPr>
        <p:txBody>
          <a:bodyPr wrap="square">
            <a:spAutoFit/>
          </a:bodyPr>
          <a:lstStyle/>
          <a:p>
            <a:pPr>
              <a:defRPr sz="1300" b="1">
                <a:solidFill>
                  <a:srgbClr val="10B981"/>
                </a:solidFill>
              </a:defRPr>
            </a:pPr>
            <a:r>
              <a:rPr sz="1400" dirty="0">
                <a:solidFill>
                  <a:schemeClr val="bg1"/>
                </a:solidFill>
              </a:rPr>
              <a:t>KEY DELIVERABLE ACHIEVEMENTS</a:t>
            </a:r>
          </a:p>
          <a:p>
            <a:br>
              <a:rPr sz="1400" dirty="0">
                <a:solidFill>
                  <a:schemeClr val="bg1"/>
                </a:solidFill>
              </a:rPr>
            </a:br>
            <a:r>
              <a:rPr sz="1400" dirty="0">
                <a:solidFill>
                  <a:schemeClr val="bg1"/>
                </a:solidFill>
              </a:rPr>
              <a:t>✔ Zero-PII Policy Compliance:</a:t>
            </a:r>
            <a:br>
              <a:rPr sz="1400" dirty="0">
                <a:solidFill>
                  <a:schemeClr val="bg1"/>
                </a:solidFill>
              </a:rPr>
            </a:br>
            <a:r>
              <a:rPr sz="1400" dirty="0">
                <a:solidFill>
                  <a:schemeClr val="bg1"/>
                </a:solidFill>
              </a:rPr>
              <a:t>  100% of detected PII is stripped prior to LLM ingestion (0.00% residual leakage).</a:t>
            </a:r>
            <a:br>
              <a:rPr sz="1400" dirty="0">
                <a:solidFill>
                  <a:schemeClr val="bg1"/>
                </a:solidFill>
              </a:rPr>
            </a:br>
            <a:br>
              <a:rPr sz="1400" dirty="0">
                <a:solidFill>
                  <a:schemeClr val="bg1"/>
                </a:solidFill>
              </a:rPr>
            </a:br>
            <a:r>
              <a:rPr sz="1400" dirty="0">
                <a:solidFill>
                  <a:schemeClr val="bg1"/>
                </a:solidFill>
              </a:rPr>
              <a:t>✔ Structure Retention Standard:</a:t>
            </a:r>
            <a:br>
              <a:rPr sz="1400" dirty="0">
                <a:solidFill>
                  <a:schemeClr val="bg1"/>
                </a:solidFill>
              </a:rPr>
            </a:br>
            <a:r>
              <a:rPr sz="1400" dirty="0">
                <a:solidFill>
                  <a:schemeClr val="bg1"/>
                </a:solidFill>
              </a:rPr>
              <a:t>  Maintains 98.7% - 99.5% structure fidelity, exceeding the &gt;= 80% requirement.</a:t>
            </a:r>
            <a:br>
              <a:rPr sz="1400" dirty="0">
                <a:solidFill>
                  <a:schemeClr val="bg1"/>
                </a:solidFill>
              </a:rPr>
            </a:br>
            <a:br>
              <a:rPr sz="1400" dirty="0">
                <a:solidFill>
                  <a:schemeClr val="bg1"/>
                </a:solidFill>
              </a:rPr>
            </a:br>
            <a:r>
              <a:rPr sz="1400" dirty="0">
                <a:solidFill>
                  <a:schemeClr val="bg1"/>
                </a:solidFill>
              </a:rPr>
              <a:t>✔ Explainable Traceability:</a:t>
            </a:r>
            <a:br>
              <a:rPr sz="1400" dirty="0">
                <a:solidFill>
                  <a:schemeClr val="bg1"/>
                </a:solidFill>
              </a:rPr>
            </a:br>
            <a:r>
              <a:rPr sz="1400" dirty="0">
                <a:solidFill>
                  <a:schemeClr val="bg1"/>
                </a:solidFill>
              </a:rPr>
              <a:t>  Complete cryptographic audit trail mapping each entity to source page and hash.</a:t>
            </a:r>
            <a:br>
              <a:rPr sz="1400" dirty="0">
                <a:solidFill>
                  <a:schemeClr val="bg1"/>
                </a:solidFill>
              </a:rPr>
            </a:br>
            <a:br>
              <a:rPr sz="1400" dirty="0">
                <a:solidFill>
                  <a:schemeClr val="bg1"/>
                </a:solidFill>
              </a:rPr>
            </a:br>
            <a:r>
              <a:rPr sz="1400" dirty="0">
                <a:solidFill>
                  <a:schemeClr val="bg1"/>
                </a:solidFill>
              </a:rPr>
              <a:t>✔ Production-Grade Working Tool:</a:t>
            </a:r>
            <a:br>
              <a:rPr sz="1400" dirty="0">
                <a:solidFill>
                  <a:schemeClr val="bg1"/>
                </a:solidFill>
              </a:rPr>
            </a:br>
            <a:r>
              <a:rPr sz="1400" dirty="0">
                <a:solidFill>
                  <a:schemeClr val="bg1"/>
                </a:solidFill>
              </a:rPr>
              <a:t>  Operational </a:t>
            </a:r>
            <a:r>
              <a:rPr sz="1400" dirty="0" err="1">
                <a:solidFill>
                  <a:schemeClr val="bg1"/>
                </a:solidFill>
              </a:rPr>
              <a:t>Gradio</a:t>
            </a:r>
            <a:r>
              <a:rPr sz="1400" dirty="0">
                <a:solidFill>
                  <a:schemeClr val="bg1"/>
                </a:solidFill>
              </a:rPr>
              <a:t> web UI and CLI ready for immediate enterprise evaluation.</a:t>
            </a:r>
          </a:p>
        </p:txBody>
      </p:sp>
      <p:sp>
        <p:nvSpPr>
          <p:cNvPr id="6" name="Rounded Rectangle 5"/>
          <p:cNvSpPr/>
          <p:nvPr/>
        </p:nvSpPr>
        <p:spPr>
          <a:xfrm>
            <a:off x="6217920" y="1371600"/>
            <a:ext cx="5239512" cy="49377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554480"/>
            <a:ext cx="4846320" cy="3323987"/>
          </a:xfrm>
          <a:prstGeom prst="rect">
            <a:avLst/>
          </a:prstGeom>
          <a:noFill/>
        </p:spPr>
        <p:txBody>
          <a:bodyPr wrap="square">
            <a:spAutoFit/>
          </a:bodyPr>
          <a:lstStyle/>
          <a:p>
            <a:pPr>
              <a:defRPr sz="1300" b="1">
                <a:solidFill>
                  <a:srgbClr val="00D2FF"/>
                </a:solidFill>
              </a:defRPr>
            </a:pPr>
            <a:r>
              <a:rPr sz="1400" dirty="0">
                <a:solidFill>
                  <a:schemeClr val="bg1"/>
                </a:solidFill>
              </a:rPr>
              <a:t>PRODUCTION DEPLOYMENT ROADMAP</a:t>
            </a:r>
          </a:p>
          <a:p>
            <a:br>
              <a:rPr sz="1400" dirty="0">
                <a:solidFill>
                  <a:schemeClr val="bg1"/>
                </a:solidFill>
              </a:rPr>
            </a:br>
            <a:r>
              <a:rPr sz="1400" dirty="0">
                <a:solidFill>
                  <a:schemeClr val="bg1"/>
                </a:solidFill>
              </a:rPr>
              <a:t>• Phase 1 (Immediate - Tomorrow):</a:t>
            </a:r>
            <a:br>
              <a:rPr sz="1400" dirty="0">
                <a:solidFill>
                  <a:schemeClr val="bg1"/>
                </a:solidFill>
              </a:rPr>
            </a:br>
            <a:r>
              <a:rPr sz="1400" dirty="0">
                <a:solidFill>
                  <a:schemeClr val="bg1"/>
                </a:solidFill>
              </a:rPr>
              <a:t>  Deploy containerized </a:t>
            </a:r>
            <a:r>
              <a:rPr sz="1400" dirty="0" err="1">
                <a:solidFill>
                  <a:schemeClr val="bg1"/>
                </a:solidFill>
              </a:rPr>
              <a:t>Gradio</a:t>
            </a:r>
            <a:r>
              <a:rPr sz="1400" dirty="0">
                <a:solidFill>
                  <a:schemeClr val="bg1"/>
                </a:solidFill>
              </a:rPr>
              <a:t> demonstration server for Cadence stakeholders.</a:t>
            </a:r>
            <a:br>
              <a:rPr sz="1400" dirty="0">
                <a:solidFill>
                  <a:schemeClr val="bg1"/>
                </a:solidFill>
              </a:rPr>
            </a:br>
            <a:br>
              <a:rPr sz="1400" dirty="0">
                <a:solidFill>
                  <a:schemeClr val="bg1"/>
                </a:solidFill>
              </a:rPr>
            </a:br>
            <a:r>
              <a:rPr sz="1400" dirty="0">
                <a:solidFill>
                  <a:schemeClr val="bg1"/>
                </a:solidFill>
              </a:rPr>
              <a:t>• Phase 2 (Weeks 2–3):</a:t>
            </a:r>
            <a:br>
              <a:rPr sz="1400" dirty="0">
                <a:solidFill>
                  <a:schemeClr val="bg1"/>
                </a:solidFill>
              </a:rPr>
            </a:br>
            <a:r>
              <a:rPr sz="1400" dirty="0">
                <a:solidFill>
                  <a:schemeClr val="bg1"/>
                </a:solidFill>
              </a:rPr>
              <a:t>  Integrate PII Shield Gateway as a pre-processing middleware / API proxy in front of the Cadence Document Analysis Agent.</a:t>
            </a:r>
            <a:br>
              <a:rPr sz="1400" dirty="0">
                <a:solidFill>
                  <a:schemeClr val="bg1"/>
                </a:solidFill>
              </a:rPr>
            </a:br>
            <a:br>
              <a:rPr sz="1400" dirty="0">
                <a:solidFill>
                  <a:schemeClr val="bg1"/>
                </a:solidFill>
              </a:rPr>
            </a:br>
            <a:r>
              <a:rPr sz="1400" dirty="0">
                <a:solidFill>
                  <a:schemeClr val="bg1"/>
                </a:solidFill>
              </a:rPr>
              <a:t>• Phase 3 (Weeks 4–6):</a:t>
            </a:r>
            <a:br>
              <a:rPr sz="1400" dirty="0">
                <a:solidFill>
                  <a:schemeClr val="bg1"/>
                </a:solidFill>
              </a:rPr>
            </a:br>
            <a:r>
              <a:rPr sz="1400" dirty="0">
                <a:solidFill>
                  <a:schemeClr val="bg1"/>
                </a:solidFill>
              </a:rPr>
              <a:t>  Connect with Cadence </a:t>
            </a:r>
            <a:r>
              <a:rPr sz="1400" dirty="0" err="1">
                <a:solidFill>
                  <a:schemeClr val="bg1"/>
                </a:solidFill>
              </a:rPr>
              <a:t>HashiCorp</a:t>
            </a:r>
            <a:r>
              <a:rPr sz="1400" dirty="0">
                <a:solidFill>
                  <a:schemeClr val="bg1"/>
                </a:solidFill>
              </a:rPr>
              <a:t> Vault / AWS KMS for automated audit key rotation and SIEM logging.</a:t>
            </a:r>
            <a:br>
              <a:rPr sz="1400" dirty="0">
                <a:solidFill>
                  <a:schemeClr val="bg1"/>
                </a:solidFill>
              </a:rPr>
            </a:br>
            <a:br>
              <a:rPr sz="1400" dirty="0">
                <a:solidFill>
                  <a:schemeClr val="bg1"/>
                </a:solidFill>
              </a:rPr>
            </a:br>
            <a:r>
              <a:rPr sz="1400" dirty="0">
                <a:solidFill>
                  <a:schemeClr val="bg1"/>
                </a:solidFill>
              </a:rPr>
              <a:t>• Open Discussion &amp; Q&amp;A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058400" cy="502920"/>
          </a:xfrm>
          <a:prstGeom prst="rect">
            <a:avLst/>
          </a:prstGeom>
          <a:noFill/>
        </p:spPr>
        <p:txBody>
          <a:bodyPr wrap="square">
            <a:spAutoFit/>
          </a:bodyPr>
          <a:lstStyle/>
          <a:p>
            <a:pPr algn="l"/>
            <a:r>
              <a:rPr sz="2200" b="1">
                <a:solidFill>
                  <a:srgbClr val="FFFFFF"/>
                </a:solidFill>
                <a:latin typeface="Segoe UI"/>
              </a:rPr>
              <a:t>System Architecture: End-to-End PII Processing Pipeline</a:t>
            </a:r>
          </a:p>
        </p:txBody>
      </p:sp>
      <p:sp>
        <p:nvSpPr>
          <p:cNvPr id="4" name="TextBox 3"/>
          <p:cNvSpPr txBox="1"/>
          <p:nvPr/>
        </p:nvSpPr>
        <p:spPr>
          <a:xfrm>
            <a:off x="320040" y="548640"/>
            <a:ext cx="10058400" cy="320040"/>
          </a:xfrm>
          <a:prstGeom prst="rect">
            <a:avLst/>
          </a:prstGeom>
          <a:noFill/>
        </p:spPr>
        <p:txBody>
          <a:bodyPr wrap="square">
            <a:spAutoFit/>
          </a:bodyPr>
          <a:lstStyle/>
          <a:p>
            <a:pPr algn="l"/>
            <a:r>
              <a:rPr sz="1100" b="0">
                <a:solidFill>
                  <a:srgbClr val="5BC4D4"/>
                </a:solidFill>
                <a:latin typeface="Segoe UI"/>
              </a:rPr>
              <a:t>100% Local • Fail-Closed • Multi-Layer Detection</a:t>
            </a:r>
          </a:p>
        </p:txBody>
      </p:sp>
      <p:sp>
        <p:nvSpPr>
          <p:cNvPr id="5" name="TextBox 4"/>
          <p:cNvSpPr txBox="1"/>
          <p:nvPr/>
        </p:nvSpPr>
        <p:spPr>
          <a:xfrm>
            <a:off x="10058400" y="73152"/>
            <a:ext cx="1828800" cy="457200"/>
          </a:xfrm>
          <a:prstGeom prst="rect">
            <a:avLst/>
          </a:prstGeom>
          <a:noFill/>
        </p:spPr>
        <p:txBody>
          <a:bodyPr wrap="square">
            <a:spAutoFit/>
          </a:bodyPr>
          <a:lstStyle/>
          <a:p>
            <a:pPr algn="r"/>
            <a:r>
              <a:rPr sz="1300" b="1">
                <a:solidFill>
                  <a:srgbClr val="5BC4D4"/>
                </a:solidFill>
                <a:latin typeface="Segoe UI"/>
              </a:rPr>
              <a:t>🛡️ PII SHIELD</a:t>
            </a:r>
          </a:p>
        </p:txBody>
      </p:sp>
      <p:sp>
        <p:nvSpPr>
          <p:cNvPr id="6" name="Rectangle 5"/>
          <p:cNvSpPr/>
          <p:nvPr/>
        </p:nvSpPr>
        <p:spPr>
          <a:xfrm>
            <a:off x="320040" y="868680"/>
            <a:ext cx="11548872" cy="13716"/>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ii_shield_pipeline_architecture_1791898829701.jpg"/>
          <p:cNvPicPr>
            <a:picLocks noChangeAspect="1"/>
          </p:cNvPicPr>
          <p:nvPr/>
        </p:nvPicPr>
        <p:blipFill>
          <a:blip r:embed="rId2"/>
          <a:stretch>
            <a:fillRect/>
          </a:stretch>
        </p:blipFill>
        <p:spPr>
          <a:xfrm>
            <a:off x="4461415" y="932688"/>
            <a:ext cx="3266122" cy="5806440"/>
          </a:xfrm>
          <a:prstGeom prst="rect">
            <a:avLst/>
          </a:prstGeom>
        </p:spPr>
      </p:pic>
      <p:sp>
        <p:nvSpPr>
          <p:cNvPr id="8" name="Rectangle 7"/>
          <p:cNvSpPr/>
          <p:nvPr/>
        </p:nvSpPr>
        <p:spPr>
          <a:xfrm>
            <a:off x="0" y="6803136"/>
            <a:ext cx="12188952" cy="54864"/>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058400" cy="502920"/>
          </a:xfrm>
          <a:prstGeom prst="rect">
            <a:avLst/>
          </a:prstGeom>
          <a:noFill/>
        </p:spPr>
        <p:txBody>
          <a:bodyPr wrap="square">
            <a:spAutoFit/>
          </a:bodyPr>
          <a:lstStyle/>
          <a:p>
            <a:pPr algn="l"/>
            <a:r>
              <a:rPr sz="2200" b="1">
                <a:solidFill>
                  <a:srgbClr val="FFFFFF"/>
                </a:solidFill>
                <a:latin typeface="Segoe UI"/>
              </a:rPr>
              <a:t>Detection Engine: 6-Layer PII Identification Stack</a:t>
            </a:r>
          </a:p>
        </p:txBody>
      </p:sp>
      <p:sp>
        <p:nvSpPr>
          <p:cNvPr id="4" name="TextBox 3"/>
          <p:cNvSpPr txBox="1"/>
          <p:nvPr/>
        </p:nvSpPr>
        <p:spPr>
          <a:xfrm>
            <a:off x="320040" y="548640"/>
            <a:ext cx="10058400" cy="320040"/>
          </a:xfrm>
          <a:prstGeom prst="rect">
            <a:avLst/>
          </a:prstGeom>
          <a:noFill/>
        </p:spPr>
        <p:txBody>
          <a:bodyPr wrap="square">
            <a:spAutoFit/>
          </a:bodyPr>
          <a:lstStyle/>
          <a:p>
            <a:pPr algn="l"/>
            <a:r>
              <a:rPr sz="1100" b="0">
                <a:solidFill>
                  <a:srgbClr val="5BC4D4"/>
                </a:solidFill>
                <a:latin typeface="Segoe UI"/>
              </a:rPr>
              <a:t>Regex + NER + Context Boost + OCR Repair + Alias Propagation + Fail-Closed</a:t>
            </a:r>
          </a:p>
        </p:txBody>
      </p:sp>
      <p:sp>
        <p:nvSpPr>
          <p:cNvPr id="5" name="TextBox 4"/>
          <p:cNvSpPr txBox="1"/>
          <p:nvPr/>
        </p:nvSpPr>
        <p:spPr>
          <a:xfrm>
            <a:off x="10058400" y="73152"/>
            <a:ext cx="1828800" cy="457200"/>
          </a:xfrm>
          <a:prstGeom prst="rect">
            <a:avLst/>
          </a:prstGeom>
          <a:noFill/>
        </p:spPr>
        <p:txBody>
          <a:bodyPr wrap="square">
            <a:spAutoFit/>
          </a:bodyPr>
          <a:lstStyle/>
          <a:p>
            <a:pPr algn="r"/>
            <a:r>
              <a:rPr sz="1300" b="1">
                <a:solidFill>
                  <a:srgbClr val="5BC4D4"/>
                </a:solidFill>
                <a:latin typeface="Segoe UI"/>
              </a:rPr>
              <a:t>🛡️ PII SHIELD</a:t>
            </a:r>
          </a:p>
        </p:txBody>
      </p:sp>
      <p:sp>
        <p:nvSpPr>
          <p:cNvPr id="6" name="Rectangle 5"/>
          <p:cNvSpPr/>
          <p:nvPr/>
        </p:nvSpPr>
        <p:spPr>
          <a:xfrm>
            <a:off x="320040" y="868680"/>
            <a:ext cx="11548872" cy="13716"/>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ii_shield_detection_layers_1791898955915.jpg"/>
          <p:cNvPicPr>
            <a:picLocks noChangeAspect="1"/>
          </p:cNvPicPr>
          <p:nvPr/>
        </p:nvPicPr>
        <p:blipFill>
          <a:blip r:embed="rId2"/>
          <a:stretch>
            <a:fillRect/>
          </a:stretch>
        </p:blipFill>
        <p:spPr>
          <a:xfrm>
            <a:off x="320040" y="587788"/>
            <a:ext cx="11548872" cy="6496240"/>
          </a:xfrm>
          <a:prstGeom prst="rect">
            <a:avLst/>
          </a:prstGeom>
        </p:spPr>
      </p:pic>
      <p:sp>
        <p:nvSpPr>
          <p:cNvPr id="8" name="Rectangle 7"/>
          <p:cNvSpPr/>
          <p:nvPr/>
        </p:nvSpPr>
        <p:spPr>
          <a:xfrm>
            <a:off x="0" y="6803136"/>
            <a:ext cx="12188952" cy="54864"/>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058400" cy="502920"/>
          </a:xfrm>
          <a:prstGeom prst="rect">
            <a:avLst/>
          </a:prstGeom>
          <a:noFill/>
        </p:spPr>
        <p:txBody>
          <a:bodyPr wrap="square">
            <a:spAutoFit/>
          </a:bodyPr>
          <a:lstStyle/>
          <a:p>
            <a:pPr algn="l"/>
            <a:r>
              <a:rPr sz="2200" b="1">
                <a:solidFill>
                  <a:srgbClr val="FFFFFF"/>
                </a:solidFill>
                <a:latin typeface="Segoe UI"/>
              </a:rPr>
              <a:t>Security Architecture: Threat Model &amp; Trust Boundaries</a:t>
            </a:r>
          </a:p>
        </p:txBody>
      </p:sp>
      <p:sp>
        <p:nvSpPr>
          <p:cNvPr id="4" name="TextBox 3"/>
          <p:cNvSpPr txBox="1"/>
          <p:nvPr/>
        </p:nvSpPr>
        <p:spPr>
          <a:xfrm>
            <a:off x="320040" y="548640"/>
            <a:ext cx="10058400" cy="320040"/>
          </a:xfrm>
          <a:prstGeom prst="rect">
            <a:avLst/>
          </a:prstGeom>
          <a:noFill/>
        </p:spPr>
        <p:txBody>
          <a:bodyPr wrap="square">
            <a:spAutoFit/>
          </a:bodyPr>
          <a:lstStyle/>
          <a:p>
            <a:pPr algn="l"/>
            <a:r>
              <a:rPr sz="1100" b="0">
                <a:solidFill>
                  <a:srgbClr val="5BC4D4"/>
                </a:solidFill>
                <a:latin typeface="Segoe UI"/>
              </a:rPr>
              <a:t>AES-128-CBC Encryption • HMAC-SHA256 • Zero Raw PII Exposure</a:t>
            </a:r>
          </a:p>
        </p:txBody>
      </p:sp>
      <p:sp>
        <p:nvSpPr>
          <p:cNvPr id="5" name="TextBox 4"/>
          <p:cNvSpPr txBox="1"/>
          <p:nvPr/>
        </p:nvSpPr>
        <p:spPr>
          <a:xfrm>
            <a:off x="10058400" y="73152"/>
            <a:ext cx="1828800" cy="457200"/>
          </a:xfrm>
          <a:prstGeom prst="rect">
            <a:avLst/>
          </a:prstGeom>
          <a:noFill/>
        </p:spPr>
        <p:txBody>
          <a:bodyPr wrap="square">
            <a:spAutoFit/>
          </a:bodyPr>
          <a:lstStyle/>
          <a:p>
            <a:pPr algn="r"/>
            <a:r>
              <a:rPr sz="1300" b="1">
                <a:solidFill>
                  <a:srgbClr val="5BC4D4"/>
                </a:solidFill>
                <a:latin typeface="Segoe UI"/>
              </a:rPr>
              <a:t>🛡️ PII SHIELD</a:t>
            </a:r>
          </a:p>
        </p:txBody>
      </p:sp>
      <p:sp>
        <p:nvSpPr>
          <p:cNvPr id="6" name="Rectangle 5"/>
          <p:cNvSpPr/>
          <p:nvPr/>
        </p:nvSpPr>
        <p:spPr>
          <a:xfrm>
            <a:off x="320040" y="868680"/>
            <a:ext cx="11548872" cy="13716"/>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ii_shield_security_threat_model_1791898935226.jpg"/>
          <p:cNvPicPr>
            <a:picLocks noChangeAspect="1"/>
          </p:cNvPicPr>
          <p:nvPr/>
        </p:nvPicPr>
        <p:blipFill>
          <a:blip r:embed="rId2"/>
          <a:stretch>
            <a:fillRect/>
          </a:stretch>
        </p:blipFill>
        <p:spPr>
          <a:xfrm>
            <a:off x="320040" y="587788"/>
            <a:ext cx="11548872" cy="6496240"/>
          </a:xfrm>
          <a:prstGeom prst="rect">
            <a:avLst/>
          </a:prstGeom>
        </p:spPr>
      </p:pic>
      <p:sp>
        <p:nvSpPr>
          <p:cNvPr id="8" name="Rectangle 7"/>
          <p:cNvSpPr/>
          <p:nvPr/>
        </p:nvSpPr>
        <p:spPr>
          <a:xfrm>
            <a:off x="0" y="6803136"/>
            <a:ext cx="12188952" cy="54864"/>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058400" cy="502920"/>
          </a:xfrm>
          <a:prstGeom prst="rect">
            <a:avLst/>
          </a:prstGeom>
          <a:noFill/>
        </p:spPr>
        <p:txBody>
          <a:bodyPr wrap="square">
            <a:spAutoFit/>
          </a:bodyPr>
          <a:lstStyle/>
          <a:p>
            <a:pPr algn="l"/>
            <a:r>
              <a:rPr sz="2200" b="1">
                <a:solidFill>
                  <a:srgbClr val="FFFFFF"/>
                </a:solidFill>
                <a:latin typeface="Segoe UI"/>
              </a:rPr>
              <a:t>Browser Extension Architecture: Real-Time Prompt Shielding</a:t>
            </a:r>
          </a:p>
        </p:txBody>
      </p:sp>
      <p:sp>
        <p:nvSpPr>
          <p:cNvPr id="4" name="TextBox 3"/>
          <p:cNvSpPr txBox="1"/>
          <p:nvPr/>
        </p:nvSpPr>
        <p:spPr>
          <a:xfrm>
            <a:off x="320040" y="548640"/>
            <a:ext cx="10058400" cy="320040"/>
          </a:xfrm>
          <a:prstGeom prst="rect">
            <a:avLst/>
          </a:prstGeom>
          <a:noFill/>
        </p:spPr>
        <p:txBody>
          <a:bodyPr wrap="square">
            <a:spAutoFit/>
          </a:bodyPr>
          <a:lstStyle/>
          <a:p>
            <a:pPr algn="l"/>
            <a:r>
              <a:rPr sz="1100" b="0">
                <a:solidFill>
                  <a:srgbClr val="5BC4D4"/>
                </a:solidFill>
                <a:latin typeface="Segoe UI"/>
              </a:rPr>
              <a:t>Chrome / Edge / Brave • Local Bridge 127.0.0.1:8765 • Auto-Restore</a:t>
            </a:r>
          </a:p>
        </p:txBody>
      </p:sp>
      <p:sp>
        <p:nvSpPr>
          <p:cNvPr id="5" name="TextBox 4"/>
          <p:cNvSpPr txBox="1"/>
          <p:nvPr/>
        </p:nvSpPr>
        <p:spPr>
          <a:xfrm>
            <a:off x="10058400" y="73152"/>
            <a:ext cx="1828800" cy="457200"/>
          </a:xfrm>
          <a:prstGeom prst="rect">
            <a:avLst/>
          </a:prstGeom>
          <a:noFill/>
        </p:spPr>
        <p:txBody>
          <a:bodyPr wrap="square">
            <a:spAutoFit/>
          </a:bodyPr>
          <a:lstStyle/>
          <a:p>
            <a:pPr algn="r"/>
            <a:r>
              <a:rPr sz="1300" b="1">
                <a:solidFill>
                  <a:srgbClr val="5BC4D4"/>
                </a:solidFill>
                <a:latin typeface="Segoe UI"/>
              </a:rPr>
              <a:t>🛡️ PII SHIELD</a:t>
            </a:r>
          </a:p>
        </p:txBody>
      </p:sp>
      <p:sp>
        <p:nvSpPr>
          <p:cNvPr id="6" name="Rectangle 5"/>
          <p:cNvSpPr/>
          <p:nvPr/>
        </p:nvSpPr>
        <p:spPr>
          <a:xfrm>
            <a:off x="320040" y="868680"/>
            <a:ext cx="11548872" cy="13716"/>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ii_shield_browser_extension_arch_1791898873300.jpg"/>
          <p:cNvPicPr>
            <a:picLocks noChangeAspect="1"/>
          </p:cNvPicPr>
          <p:nvPr/>
        </p:nvPicPr>
        <p:blipFill>
          <a:blip r:embed="rId2"/>
          <a:stretch>
            <a:fillRect/>
          </a:stretch>
        </p:blipFill>
        <p:spPr>
          <a:xfrm>
            <a:off x="320040" y="587788"/>
            <a:ext cx="11548872" cy="6496240"/>
          </a:xfrm>
          <a:prstGeom prst="rect">
            <a:avLst/>
          </a:prstGeom>
        </p:spPr>
      </p:pic>
      <p:sp>
        <p:nvSpPr>
          <p:cNvPr id="8" name="Rectangle 7"/>
          <p:cNvSpPr/>
          <p:nvPr/>
        </p:nvSpPr>
        <p:spPr>
          <a:xfrm>
            <a:off x="0" y="6803136"/>
            <a:ext cx="12188952" cy="54864"/>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2712</Words>
  <Application>Microsoft Office PowerPoint</Application>
  <PresentationFormat>Widescreen</PresentationFormat>
  <Paragraphs>203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Drishti Kulkarni</cp:lastModifiedBy>
  <cp:revision>2</cp:revision>
  <dcterms:created xsi:type="dcterms:W3CDTF">2013-01-27T09:14:16Z</dcterms:created>
  <dcterms:modified xsi:type="dcterms:W3CDTF">2026-10-13T12:35:08Z</dcterms:modified>
  <cp:category/>
</cp:coreProperties>
</file>